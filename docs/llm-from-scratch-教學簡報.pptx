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rts/chart1.xml" ContentType="application/vnd.openxmlformats-officedocument.drawingml.chart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203"/>
  </p:normalViewPr>
  <p:slideViewPr>
    <p:cSldViewPr snapToGrid="0" snapToObjects="1">
      <p:cViewPr varScale="1">
        <p:scale>
          <a:sx n="132" d="100"/>
          <a:sy n="132" d="100"/>
        </p:scale>
        <p:origin x="1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31750" cap="flat">
              <a:solidFill>
                <a:srgbClr val="A86F1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1</c:v>
                </c:pt>
                <c:pt idx="1">
                  <c:v>120</c:v>
                </c:pt>
                <c:pt idx="2">
                  <c:v>240</c:v>
                </c:pt>
                <c:pt idx="3">
                  <c:v>360</c:v>
                </c:pt>
                <c:pt idx="4">
                  <c:v>480</c:v>
                </c:pt>
                <c:pt idx="5">
                  <c:v>600</c:v>
                </c:pt>
                <c:pt idx="6">
                  <c:v>720</c:v>
                </c:pt>
                <c:pt idx="7">
                  <c:v>840</c:v>
                </c:pt>
                <c:pt idx="8">
                  <c:v>960</c:v>
                </c:pt>
                <c:pt idx="9">
                  <c:v>1080</c:v>
                </c:pt>
                <c:pt idx="10">
                  <c:v>1200</c:v>
                </c:pt>
                <c:pt idx="11">
                  <c:v>1320</c:v>
                </c:pt>
                <c:pt idx="12">
                  <c:v>1440</c:v>
                </c:pt>
                <c:pt idx="13">
                  <c:v>1560</c:v>
                </c:pt>
                <c:pt idx="14">
                  <c:v>1680</c:v>
                </c:pt>
                <c:pt idx="15">
                  <c:v>1800</c:v>
                </c:pt>
                <c:pt idx="16">
                  <c:v>1920</c:v>
                </c:pt>
                <c:pt idx="17">
                  <c:v>2040</c:v>
                </c:pt>
                <c:pt idx="18">
                  <c:v>2160</c:v>
                </c:pt>
                <c:pt idx="19">
                  <c:v>2280</c:v>
                </c:pt>
                <c:pt idx="20">
                  <c:v>2400</c:v>
                </c:pt>
                <c:pt idx="21">
                  <c:v>2520</c:v>
                </c:pt>
                <c:pt idx="22">
                  <c:v>2640</c:v>
                </c:pt>
                <c:pt idx="23">
                  <c:v>2760</c:v>
                </c:pt>
                <c:pt idx="24">
                  <c:v>2880</c:v>
                </c:pt>
                <c:pt idx="25">
                  <c:v>3000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8.8148999999999997</c:v>
                </c:pt>
                <c:pt idx="1">
                  <c:v>6.0609000000000002</c:v>
                </c:pt>
                <c:pt idx="2">
                  <c:v>5.1124000000000001</c:v>
                </c:pt>
                <c:pt idx="3">
                  <c:v>4.5694999999999997</c:v>
                </c:pt>
                <c:pt idx="4">
                  <c:v>4.2454000000000001</c:v>
                </c:pt>
                <c:pt idx="5">
                  <c:v>3.9605000000000001</c:v>
                </c:pt>
                <c:pt idx="6">
                  <c:v>3.8504</c:v>
                </c:pt>
                <c:pt idx="7">
                  <c:v>3.7543000000000002</c:v>
                </c:pt>
                <c:pt idx="8">
                  <c:v>3.6738</c:v>
                </c:pt>
                <c:pt idx="9">
                  <c:v>3.5001000000000002</c:v>
                </c:pt>
                <c:pt idx="10">
                  <c:v>3.3466</c:v>
                </c:pt>
                <c:pt idx="11">
                  <c:v>3.4276</c:v>
                </c:pt>
                <c:pt idx="12">
                  <c:v>3.1896</c:v>
                </c:pt>
                <c:pt idx="13">
                  <c:v>3.2271999999999998</c:v>
                </c:pt>
                <c:pt idx="14">
                  <c:v>3.2002000000000002</c:v>
                </c:pt>
                <c:pt idx="15">
                  <c:v>3.2319</c:v>
                </c:pt>
                <c:pt idx="16">
                  <c:v>3.1012</c:v>
                </c:pt>
                <c:pt idx="17">
                  <c:v>3.1448999999999998</c:v>
                </c:pt>
                <c:pt idx="18">
                  <c:v>3.0731000000000002</c:v>
                </c:pt>
                <c:pt idx="19">
                  <c:v>3.0104000000000002</c:v>
                </c:pt>
                <c:pt idx="20">
                  <c:v>2.8574000000000002</c:v>
                </c:pt>
                <c:pt idx="21">
                  <c:v>2.9581</c:v>
                </c:pt>
                <c:pt idx="22">
                  <c:v>2.8898999999999999</c:v>
                </c:pt>
                <c:pt idx="23">
                  <c:v>2.8809999999999998</c:v>
                </c:pt>
                <c:pt idx="24">
                  <c:v>2.8959000000000001</c:v>
                </c:pt>
                <c:pt idx="25">
                  <c:v>2.7806000000000002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2B-CA49-A66F-E4364D78F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26D7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26D7A"/>
                    </a:solidFill>
                    <a:latin typeface="Arial"/>
                  </a:rPr>
                  <a:t>step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6D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9"/>
          <c:min val="2"/>
        </c:scaling>
        <c:delete val="0"/>
        <c:axPos val="l"/>
        <c:majorGridlines>
          <c:spPr>
            <a:ln w="9525" cap="flat">
              <a:solidFill>
                <a:srgbClr val="DC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6D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開場。核心賣點：市面上的教學都在講「Transformer 的架構圖」，這份不一樣——它把每一層的 backward 手推出來，再用有限差分驗證。所以你會知道「梯度」不是抽象名詞，是一個可以印出來、可以驗算的數字。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先把四個問題丟出來，讓聽眾帶著問題聽。結尾會回來一題一題收。強調：這不是數學能力的問題，是「變數 vs 常數」的分類問題。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這張是全場的地基，一定要講。非 ML 背景的人最常卡在「模型到底在學什麼」——答案樸素到會讓人失望：把文字往右位移一格當答案，猜下一個字。所有能力都是這件事的副產品。teacher forcing 那格也順便鋪好了後面「訓練可微、生成不可微」的伏筆。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這張是全場的地圖，後面每一段都會回頭指這張。三個重點：(1) 只有最右邊那格有「對錯」的資訊 (2) 反向不改權重 (3) 那條綠色虛線回到 Embedding，就是訓練迴圈。留意 Embedding 被標成藍色——它同時是前向的第一站，也是反向的最後一站。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九站。時間分配：1-2 各 5 分鐘，3-5 是主體約 25 分鐘，6-7 約 15 分鐘，8-9 收尾 10 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這是全場唯一「純數學」的一張，但只要 2 分鐘。重點不是算式，是左上角 5 vs 19 這個對比：同樣兩個矩陣，兩種乘法給出完全不同的答案。下一張講為什麼這個差別很重要。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這張是本段的重點。程式設計師的類比：</a:t>
            </a:r>
            <a:r>
              <a:rPr lang="en-US" dirty="0">
                <a:latin typeface="Cambria Math"/>
                <a:cs typeface="Cambria Math"/>
              </a:rPr>
              <a:t>⊙</a:t>
            </a:r>
            <a:r>
              <a:rPr lang="en-US" dirty="0"/>
              <a:t> 像對陣列做 map，@ 像做 reduce 之後再重組。map 再多次也不會讓元素之間交換資訊。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不用背公式。記憶法在下一張：用形狀反推，梯度的形狀永遠跟被微分的東西一樣，通常只有一種排法接得起來。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不要唸完整張表。只強調兩件事：(1) ∂L/∂x 的白話就是「動一丁點會變多少」(2) ← 是賦值不是等式，θ = θ − ηg 在數學上是無解方程式。其他讓聽眾之後回頭查。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程式設計師的類比：tokenizer 像是編譯器的 lexer，是一個獨立的前處理階段，跑完就固定。它沒有「訓練」的意義上的學習，只是統計。但它產生的常數會硬編進模型的架構裡。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這是最常被問的問題，答案卻極其樸素：它就是個 while 迴圈的停止條件。5227 + 1173 = 6400，投影出來讓大家自己加一次。順帶給出「合併次數遞減」這個實用的調參直覺。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重點：詞表大小是「架構參數」，不是「前處理參數」。以及那個 loss 比較的陷阱——很多人換了 tokenizer 看到 loss 變高就以為模型退步了，其實是單位變了。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這是全場最重要的一張之一。用「第 0 層」的框架去重述，聽眾通常當場就通了。可以問現場：有多少人以為 embedding 是先用 word2vec 之類的東西「預先算好」的？其實在 LLM 裡它就是隨機初始化然後一起訓練。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對工程師：「查表就是 O(1) 索引，為什麼要繞一圈講成矩陣乘法？」答案是——反向傳播的推導需要它。你不寫成 X = O·E，就推不出 scatter-add，只能把它當成一條要背的特殊規則。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這張回答「h 不就已經是分數了嗎」。關鍵在形狀：256 ≠ 6400，一定要有東西把它換過去。順便鋪好 weight tying——下一張的兩條梯度路徑就是因為 E 在這裡被用了第二次。「點積不是距離」是給有數學背景的人的防呆，講一句帶過就好。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這張把全景圖上沒解釋的符號一次補齊。最容易卡的是 y——聽眾會以為 y 是「正確答案的 id」（一個整數），但它是 6,400 維的 one-hot，不然 p − y 這個減法不成立。最後那格「自信地猜錯無上限重罰」會在第 9 段的 tokenizer 綁定再出現一次。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強調「不是特殊規則」。很多教材會說「embedding 的反向是特殊的 scatter-add」，好像是額外加的機制。其實把它寫成 X = O·E，套最普通的線性層公式 ∂L/∂W = (∂L/∂y)ᵀ x，展開就是它。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這是連老手都會踩的一個點。「embedding gradient is sparse」是很常見的說法，來自沒有 weight tying 的年代。現代 LLM 幾乎都 tie，所以那個最佳化假設不成立。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這一題最能展現「變數 vs 常數」的分類。有限差分是最有說服力的示範：真的去把那個數字加減 ε，跑兩次 forward，看 loss 差多少。「狗」那列跑出來一模一樣，因為它根本沒參與計算。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三件事：(1) 順序是 Norm 先，不是 FFN 先 (2) 那兩個 + 是殘差，下一張細講 (3) Attention 橫向、FFN 縱向——這個分工是理解 Transformer 的關鍵句。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「前向分岔，反向相加」是這場最好用的一句口訣。之後每次遇到分岔（殘差、QKV、SwiGLU 雙路）都可以回頭指這句話，聽眾就不用背個別公式了。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「形狀不變」那一列要強調：Block 是可堆疊的，因為它保持形狀。這跟 CNN 每層改變形狀很不一樣。另外 lm_head 是 0，因為 weight tying——它跟 embedding 共用同一個張量。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RMSNorm 是最容易被跳過的一層，但它是後面「梯度為什麼會被放大」的原因。下一張用真實數字看它做了什麼。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讓聽眾自己拿計算機驗算 0.01647 / 0.019711。整場最重要的態度就是「每個數字都可以自己驗算」，這一張是最容易做到的示範。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重繪版：三條車道由左到右，沒有迴轉也沒有交叉線。V 那條全程走最下面，到最後一步才匯入——這個視覺本身就解釋了「V 不做 RoPE」。講的時候先講下面那兩張卡（兩個階段），再回頭指圖，聽眾會比較容易接住。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「不是複製，是切開」是最常見的誤解之一。很多人以為多頭 = 多算幾次 = 參數變多。其實是同一個 256 維被切成 4 段各 64 維，參數量一模一樣。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括號裡那個 Σ 是「這一列的加權平均」，每列算一次就好，不需要真的建出 T×T 的 Jacobian。另外遮罩不用特別處理——被遮住的位置 Aij = 0，公式最前面的 Aij 自動讓那些梯度也是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點很值得停下來講：注意力矩陣在訓練初期是「平均分配」的，這是模型「什麼都還不知道」的樣子。可以對照 train_step_3000.txt 看它變尖銳。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tokenizer 那一段和 attention 這一段接起來。序列長度是 tokenizer 決定的，而 attention 對序列長度是平方級的成本——兩個看似無關的段落在這裡合流。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重繪版：兩條車道（閘門 / 內容）平行往右，在 </a:t>
            </a:r>
            <a:r>
              <a:rPr lang="en-US" dirty="0">
                <a:latin typeface="Cambria Math"/>
                <a:cs typeface="Cambria Math"/>
              </a:rPr>
              <a:t>⊙</a:t>
            </a:r>
            <a:r>
              <a:rPr lang="en-US" dirty="0"/>
              <a:t> 匯流。橘色是閘門路、藍色是內容路，顏色本身就在講故事。下面那條虛線標出「672 維工作區」，把升維再降維畫出來了——原本這件事只有文字寫著 d → d_ff，圖上看不出來。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兩個工程上很有用的數字：(1) 參數三分之二在 FFN (2) 訓練吃記憶體是因為要存活化值給反向用。第二點解釋了為什麼 inference 可以用小很多的卡。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這張是「閘門」這個抽象詞的具體化。第 3 個維度就是一個被關掉的例子。再次強調：所有數字都可以自己驗算，SiLU(-1.00882) 拿計算機按一次就出來。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「每一層都不知道任務是什麼」是個很反直覺但很重要的觀念。模型沒有「理解」，只有一條把 p−y 機械式傳遞下去的鏈。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「除以 N」是因為 loss 對所有有效位置取了平均。強調正解那格是負的、其他是正的——這個符號差別就是全部的學習訊號。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「用形狀反推」是給工程師最實用的一招。不用記公式，把 shape 寫出來，能接得起來的排法通常只有一種。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這張把 RMSNorm 那一段和反向傳播接起來。可以問聽眾：為什麼 block0 的輸出突然大了 25 倍？答案在前面 RMSNorm 那張。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這個誤解很多人有，因為「反向傳播」這個詞聽起來就像在做更新。實際上它只是計算。真正動手的是 optimizer，這也是為什麼 optimizer 是可以替換的元件。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 SGD 讓大家有個錨。AdamW 看起來複雜，但骨架跟 SGD 一模一樣，只是把 g 換成一個正規化過的方向。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不要逐行推導。重點是 ⑤：g 被換成了 m̂/(√v̂+ε)。下一張講那個替換造成的關鍵性質。右邊三張小卡是給有經驗的人看的細節，可以快速帶過。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這是全場最反直覺的一張。大家以為「梯度大 = 走得多」，Adam 完全不是這樣。延伸：高頻 token 走得遠但方向沒怎麼變（各種上下文互相抵消），中頻 token 轉得最多。位移量被封頂，真正有差別的是「動得有沒有方向」。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梯度裁剪的重點是「整體縮放，不改方向」。lr schedule 的重點是 warmup 存在的理由：一開始權重是亂數，梯度方向根本不可靠。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這一段是「工程師的誠實」。有限差分很慢，但它是唯一不依賴任何框架的驗證方法。九層全過，而且誤差量級跟每層的運算複雜度對得起來——這比單純的 PASS 更有說服力。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曲線後半的抖動很重要——很多人第一次看到會以為訓練壞了。那是 batch 之間的自然差異。整體趨勢還在下降，代表沒有訓練飽和。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誠實面對輸出品質。第一段很好是因為「機器學習」是單一 token；後兩段語法對、語意飄，這正是這個規模該有的表現。不要為了好看只放第一段。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「比隨機還差」這件事值得停下來講。均勻分布至少誠實地說「我不知道」；載錯 tokenizer 的模型是自信地猜錯，cross-entropy 會重罰這種行為。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「不會報錯的錯誤」是最貴的錯誤。這一段的價值在於它是可以直接帶走用的工程教訓，不限於 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這是全場最有「帶得走的工程教訓」味道的一張。「驗證」和「尋找」是兩件事——這個區分在任何有 artifact 依賴的系統裡都適用，不限於 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新列的初始化有三種常見選擇：既有向量平均（最簡單）、小亂數（跟從頭訓練一致）、子詞平均（新 token 是「機器學習」就用「機」「器」「學」「習」四個舊向量的平均）。第三種通常最好。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一題一題收。可以先問聽眾，再翻答案。這四題如果都答對，這場的目的就達到了。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給聽眾一個明確的、五分鐘內可以做完的下一步。不要說「去 GitHub 看看」，要說「跑這一行、看這兩個行號」。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收尾。把「模型不理解語言」這句話留在最後——對非 ML 背景的聽眾來說，這是最有價值的除魅。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691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從零開始手刻的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94944" y="2852928"/>
            <a:ext cx="1371600" cy="50292"/>
          </a:xfrm>
          <a:prstGeom prst="rect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3072384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autograd、不用 nn.Module —— 每一條 backward 都自己推、自己驗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52958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給有程式經驗、但沒碰過機器學習的人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" y="5029200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92224" y="5239512"/>
            <a:ext cx="201168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993392" y="5029200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2029968" y="502920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5239512"/>
            <a:ext cx="201168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5029200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3328416" y="502920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5239512"/>
            <a:ext cx="201168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90288" y="5029200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626864" y="502920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×4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87568" y="5239512"/>
            <a:ext cx="201168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888736" y="5029200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25312" y="502920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86016" y="5239512"/>
            <a:ext cx="201168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187184" y="5029200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7223760" y="5029200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H="1">
            <a:off x="694944" y="5742432"/>
            <a:ext cx="6455664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749808" y="58155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反向：把 loss 翻譯成每一層的修正單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200" dirty="0" err="1">
                <a:solidFill>
                  <a:srgbClr val="76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對應專案</a:t>
            </a:r>
            <a:r>
              <a:rPr lang="en-US" sz="1200" dirty="0">
                <a:solidFill>
                  <a:srgbClr val="76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en-US" sz="1200" dirty="0" err="1">
                <a:solidFill>
                  <a:srgbClr val="76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r>
              <a:rPr lang="en-US" sz="1200" dirty="0">
                <a:solidFill>
                  <a:srgbClr val="76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-from-scratch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 60 分鐘，要回答四個問題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每一題都不需要數學系背景</a:t>
            </a: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AEFDA"/>
          </a:solidFill>
          <a:ln/>
          <a:effectLst>
            <a:outerShdw blurRad="1016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04672" y="1810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40864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 6,400 個 id，</a:t>
            </a:r>
            <a:endParaRPr lang="en-US" sz="165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這個數字是誰決定的？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0390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不是算出來的，是人工挑的停止條件。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92424" y="1572768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E1EDF3"/>
          </a:solidFill>
          <a:ln/>
          <a:effectLst>
            <a:outerShdw blurRad="1016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630168" y="1810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3630168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340864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</a:t>
            </a:r>
            <a:r>
              <a:rPr lang="en-US" sz="165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是「資料」還是「模型</a:t>
            </a: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」？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380390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是權重資料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F9E7E5"/>
          </a:solidFill>
          <a:ln/>
          <a:effectLst>
            <a:outerShdw blurRad="1016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455664" y="1810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55664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340864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反向傳播會不會</a:t>
            </a:r>
            <a:endParaRPr lang="en-US" sz="165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改動權重？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380390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</a:t>
            </a:r>
            <a:r>
              <a:rPr lang="en-US" sz="1250" b="1" dirty="0" err="1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只算斜率</a:t>
            </a: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50" b="1" dirty="0" err="1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梯度，AdamW</a:t>
            </a: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優化器才改權重</a:t>
            </a: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43416" y="1572768"/>
            <a:ext cx="2615184" cy="2880360"/>
          </a:xfrm>
          <a:prstGeom prst="roundRect">
            <a:avLst>
              <a:gd name="adj" fmla="val 3497"/>
            </a:avLst>
          </a:prstGeom>
          <a:solidFill>
            <a:srgbClr val="E5F0E9"/>
          </a:solidFill>
          <a:ln/>
          <a:effectLst>
            <a:outerShdw blurRad="101600" dist="25400" dir="5400000" algn="bl" rotWithShape="0">
              <a:srgbClr val="9AA5B1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281160" y="1810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7A5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928116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340864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 是整數，</a:t>
            </a:r>
            <a:endParaRPr lang="en-US" sz="1650" dirty="0"/>
          </a:p>
          <a:p>
            <a:pPr marL="0" indent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那要怎麼微分？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3803904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不對 id </a:t>
            </a:r>
            <a:r>
              <a:rPr lang="en-US" sz="1250" b="1" dirty="0" err="1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微分，微分的是</a:t>
            </a:r>
            <a:r>
              <a:rPr lang="en-US" sz="12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E[id] embedding </a:t>
            </a:r>
            <a:r>
              <a:rPr lang="en-US" sz="1250" b="1" dirty="0" err="1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向量各個row</a:t>
            </a:r>
            <a:r>
              <a:rPr lang="en-US" sz="12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828032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859536" y="4828032"/>
            <a:ext cx="10472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共通點：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這四個誤解都不是「懂不懂數學」的問題，而是</a:t>
            </a:r>
            <a:r>
              <a:rPr lang="en-US" sz="15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「哪個東西是變數、哪個是常數」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沒分清楚。分清楚之後，公式反而是最簡單的部分。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模型在學什麼：看 0…t，猜 t+1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整個訓練的監督訊號只有這一句 —— 沒有任何人標註「貓是動物」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27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x（餵進去的）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0" y="162763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2322576" y="16276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72968" y="162763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3209544" y="16276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59936" y="162763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096512" y="16276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墊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46904" y="162763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4983480" y="16276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33872" y="162763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5870448" y="16276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20840" y="162763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57416" y="162763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y（要它猜的）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23774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6757416" y="237744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07808" y="23774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7642940" y="237744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覺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746087" y="2093976"/>
            <a:ext cx="886968" cy="292608"/>
          </a:xfrm>
          <a:prstGeom prst="line">
            <a:avLst/>
          </a:prstGeom>
          <a:noFill/>
          <a:ln w="1651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1548705" y="2140659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往右位移一格進行預測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29260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看到「貓在電子上睡」要猜「覺</a:t>
            </a: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」…… 一句話裡有幾個 token，就有幾道題目。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95360" y="1627632"/>
            <a:ext cx="3044952" cy="1207008"/>
          </a:xfrm>
          <a:prstGeom prst="roundRect">
            <a:avLst>
              <a:gd name="adj" fmla="val 6818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8814816" y="17190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6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train.py:139–141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14816" y="19751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data[i     : i+T]</a:t>
            </a:r>
            <a:endParaRPr lang="en-US" sz="10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data[i + 1 : i+T+1]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3401568"/>
            <a:ext cx="3520440" cy="1517904"/>
          </a:xfrm>
          <a:prstGeom prst="roundRect">
            <a:avLst>
              <a:gd name="adj" fmla="val 5422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804672" y="35295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forward，128 </a:t>
            </a:r>
            <a:r>
              <a:rPr lang="zh-TW" alt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道題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" y="387705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猜第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個、位置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個猜第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……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一路到位置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。因果遮罩保證每個位置只看得到自己左邊，所以這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道題可以擠在同一次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裡互不干擾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不用跑 </a:t>
            </a:r>
            <a:r>
              <a:rPr lang="en-US" altLang="zh-TW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</a:t>
            </a:r>
            <a:r>
              <a:rPr lang="zh-TW" alt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306824" y="3401568"/>
            <a:ext cx="3520440" cy="1517904"/>
          </a:xfrm>
          <a:prstGeom prst="roundRect">
            <a:avLst>
              <a:gd name="adj" fmla="val 542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 txBox="1"/>
          <p:nvPr/>
        </p:nvSpPr>
        <p:spPr>
          <a:xfrm>
            <a:off x="4544568" y="35295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B × T = 8,192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44568" y="387705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batch 有 8,192 道題。loss 是這 8,192 個 −log p[正解] 取平均 —— 這就是 dz 要除以 N 的原因。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46720" y="3401568"/>
            <a:ext cx="3520440" cy="1517904"/>
          </a:xfrm>
          <a:prstGeom prst="roundRect">
            <a:avLst>
              <a:gd name="adj" fmla="val 5422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 txBox="1"/>
          <p:nvPr/>
        </p:nvSpPr>
        <p:spPr>
          <a:xfrm>
            <a:off x="8284464" y="35295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forcing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284464" y="387705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不管模型上一步猜對還猜錯，下一步餵的都是正確答案。所以 id 是資料集給定的常數 —— 訓練全程可微。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6928" y="5138928"/>
            <a:ext cx="11057839" cy="1005840"/>
          </a:xfrm>
          <a:prstGeom prst="roundRect">
            <a:avLst>
              <a:gd name="adj" fmla="val 9091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 txBox="1"/>
          <p:nvPr/>
        </p:nvSpPr>
        <p:spPr>
          <a:xfrm>
            <a:off x="932688" y="5138928"/>
            <a:ext cx="103263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「看位置 0…t，猜位置 t+1。」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整個訓練的監督訊號只有這個。沒有人標註詞性、沒有人標註「貓是動物」—— 語法、語意、常識全部是從「猜下一個字」這一件事裡長出來的副產品。</a:t>
            </a:r>
            <a:endParaRPr lang="en-US" sz="2000" dirty="0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F3BCC1B7-6B92-F27A-0875-B119EC9A0D23}"/>
              </a:ext>
            </a:extLst>
          </p:cNvPr>
          <p:cNvSpPr/>
          <p:nvPr/>
        </p:nvSpPr>
        <p:spPr>
          <a:xfrm>
            <a:off x="3172968" y="23774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0B938B5-4ABA-08F6-F3EC-67BC2A1CFA13}"/>
              </a:ext>
            </a:extLst>
          </p:cNvPr>
          <p:cNvSpPr txBox="1"/>
          <p:nvPr/>
        </p:nvSpPr>
        <p:spPr>
          <a:xfrm>
            <a:off x="3209544" y="238658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A86F14"/>
                </a:solidFill>
                <a:latin typeface="Calibri" pitchFamily="34" charset="0"/>
                <a:cs typeface="Calibri" pitchFamily="34" charset="-120"/>
              </a:rPr>
              <a:t>在</a:t>
            </a:r>
            <a:endParaRPr lang="en-US" sz="1500" b="1" dirty="0">
              <a:solidFill>
                <a:srgbClr val="A86F1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81C6C45A-76C7-FFD7-DF63-C4DD096C70F2}"/>
              </a:ext>
            </a:extLst>
          </p:cNvPr>
          <p:cNvSpPr/>
          <p:nvPr/>
        </p:nvSpPr>
        <p:spPr>
          <a:xfrm>
            <a:off x="4059936" y="23774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37EB8B72-879E-846C-8AD0-613EAAC1E84A}"/>
              </a:ext>
            </a:extLst>
          </p:cNvPr>
          <p:cNvSpPr txBox="1"/>
          <p:nvPr/>
        </p:nvSpPr>
        <p:spPr>
          <a:xfrm>
            <a:off x="4096512" y="238658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A86F14"/>
                </a:solidFill>
                <a:latin typeface="Calibri" pitchFamily="34" charset="0"/>
                <a:cs typeface="Calibri" pitchFamily="34" charset="-120"/>
              </a:rPr>
              <a:t>墊</a:t>
            </a:r>
            <a:endParaRPr lang="en-US" sz="1500" b="1" dirty="0">
              <a:solidFill>
                <a:srgbClr val="A86F1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2DC2232A-08E0-FFF7-42C5-FAA6400A3F30}"/>
              </a:ext>
            </a:extLst>
          </p:cNvPr>
          <p:cNvSpPr/>
          <p:nvPr/>
        </p:nvSpPr>
        <p:spPr>
          <a:xfrm>
            <a:off x="4946904" y="23774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465409CF-1EFD-6235-AE43-AB2FCFC9008D}"/>
              </a:ext>
            </a:extLst>
          </p:cNvPr>
          <p:cNvSpPr txBox="1"/>
          <p:nvPr/>
        </p:nvSpPr>
        <p:spPr>
          <a:xfrm>
            <a:off x="4983480" y="238658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A86F14"/>
                </a:solidFill>
                <a:latin typeface="Calibri" pitchFamily="34" charset="0"/>
                <a:cs typeface="Calibri" pitchFamily="34" charset="-120"/>
              </a:rPr>
              <a:t>子</a:t>
            </a:r>
            <a:endParaRPr lang="en-US" sz="1500" b="1" dirty="0">
              <a:solidFill>
                <a:srgbClr val="A86F14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0C34FAF4-CE44-E7FC-6A2D-220D0539C80A}"/>
              </a:ext>
            </a:extLst>
          </p:cNvPr>
          <p:cNvSpPr/>
          <p:nvPr/>
        </p:nvSpPr>
        <p:spPr>
          <a:xfrm>
            <a:off x="5833872" y="23774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3957AAD1-D387-FF37-4D33-14E4E3D14123}"/>
              </a:ext>
            </a:extLst>
          </p:cNvPr>
          <p:cNvSpPr txBox="1"/>
          <p:nvPr/>
        </p:nvSpPr>
        <p:spPr>
          <a:xfrm>
            <a:off x="5870448" y="238658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A86F14"/>
                </a:solidFill>
                <a:latin typeface="Calibri" pitchFamily="34" charset="0"/>
                <a:cs typeface="Calibri" pitchFamily="34" charset="-120"/>
              </a:rPr>
              <a:t>上</a:t>
            </a:r>
            <a:endParaRPr lang="en-US" sz="1500" b="1" dirty="0">
              <a:solidFill>
                <a:srgbClr val="A86F14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全景：訓練就是這個迴圈跑幾千次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一句話進去，到權重被改動，中間發生了什麼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貓在墊子上睡覺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01952" y="1929384"/>
            <a:ext cx="283464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185416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2221992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</a:t>
            </a:r>
            <a:r>
              <a:rPr lang="en-US" altLang="zh-TW" sz="1000" dirty="0"/>
              <a:t>(64, 128)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切成</a:t>
            </a: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</a:t>
            </a:r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cs typeface="Calibri" pitchFamily="34" charset="-120"/>
              </a:rPr>
              <a:t>64句話，每句話128 </a:t>
            </a:r>
            <a:r>
              <a:rPr lang="en-US" sz="1000" b="1" dirty="0" err="1">
                <a:solidFill>
                  <a:srgbClr val="1B2430"/>
                </a:solidFill>
                <a:latin typeface="Calibri" pitchFamily="34" charset="0"/>
                <a:cs typeface="Calibri" pitchFamily="34" charset="-120"/>
              </a:rPr>
              <a:t>token以內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929384"/>
            <a:ext cx="283464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803904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3840480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en-US" altLang="zh-TW" sz="1000" dirty="0"/>
              <a:t>(6400, 256)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E[ids]</a:t>
            </a:r>
          </a:p>
          <a:p>
            <a:pPr marL="0" indent="0" algn="ctr">
              <a:lnSpc>
                <a:spcPts val="1300"/>
              </a:lnSpc>
              <a:buNone/>
            </a:pPr>
            <a:r>
              <a:rPr lang="en-US" altLang="zh-TW" sz="1000" dirty="0"/>
              <a:t>x(64, 128, 256)</a:t>
            </a:r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/>
              <a:t>1個token 256維</a:t>
            </a:r>
          </a:p>
        </p:txBody>
      </p:sp>
      <p:sp>
        <p:nvSpPr>
          <p:cNvPr id="14" name="Shape 12"/>
          <p:cNvSpPr/>
          <p:nvPr/>
        </p:nvSpPr>
        <p:spPr>
          <a:xfrm>
            <a:off x="5138928" y="1929384"/>
            <a:ext cx="283464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422392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58968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個 transformer Block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注意力＋FFN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57416" y="1929384"/>
            <a:ext cx="283464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040880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7077456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最後一道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zh-TW" altLang="en-US" sz="1000" dirty="0"/>
              <a:t>輸出</a:t>
            </a:r>
            <a:r>
              <a:rPr lang="en-US" altLang="zh-TW" sz="1000" dirty="0"/>
              <a:t>h(64, 128, 256)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75904" y="1929384"/>
            <a:ext cx="283464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659368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8695944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輸出層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(logits) = h @ Eᵀ</a:t>
            </a:r>
          </a:p>
          <a:p>
            <a:pPr marL="0" indent="0" algn="ctr">
              <a:lnSpc>
                <a:spcPts val="1300"/>
              </a:lnSpc>
              <a:buNone/>
            </a:pPr>
            <a:r>
              <a:rPr lang="en-US" altLang="zh-TW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Eᵀ</a:t>
            </a:r>
            <a:r>
              <a:rPr lang="en-US" altLang="zh-TW" sz="1000" dirty="0"/>
              <a:t>(256, 6400)</a:t>
            </a:r>
          </a:p>
          <a:p>
            <a:pPr marL="0" indent="0" algn="ctr">
              <a:lnSpc>
                <a:spcPts val="1300"/>
              </a:lnSpc>
              <a:buNone/>
            </a:pPr>
            <a:r>
              <a:rPr lang="en-US" altLang="zh-TW" sz="1000" dirty="0"/>
              <a:t>z(64, 128, 6400)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994392" y="1929384"/>
            <a:ext cx="283464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0277856" y="1572768"/>
            <a:ext cx="1335024" cy="713232"/>
          </a:xfrm>
          <a:prstGeom prst="roundRect">
            <a:avLst>
              <a:gd name="adj" fmla="val 7692"/>
            </a:avLst>
          </a:prstGeom>
          <a:solidFill>
            <a:srgbClr val="F9E7E5"/>
          </a:solidFill>
          <a:ln w="12700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10314432" y="15727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loss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softmax(z)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−log p[</a:t>
            </a:r>
            <a:r>
              <a:rPr lang="en-US" sz="1000" b="1" dirty="0" err="1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</a:t>
            </a:r>
            <a:r>
              <a:rPr lang="en-US" sz="10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　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45368" y="2286000"/>
            <a:ext cx="0" cy="987552"/>
          </a:xfrm>
          <a:prstGeom prst="line">
            <a:avLst/>
          </a:prstGeom>
          <a:noFill/>
          <a:ln w="20320">
            <a:solidFill>
              <a:srgbClr val="B23A3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81160" y="2916937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 = p − 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81160" y="3273552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9317736" y="3273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唯一知道「對錯」的地方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= p − 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 flipH="1">
            <a:off x="8686800" y="3621024"/>
            <a:ext cx="594360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355080" y="3273552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6391656" y="3273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反向傳播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逐層往回算出每層該怎麼改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H="1">
            <a:off x="5760720" y="3621024"/>
            <a:ext cx="594360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429000" y="3273552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3465576" y="3273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scatter-add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 id 的修正量累加進 dE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（此時 E 還沒動）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H="1">
            <a:off x="2898648" y="3621024"/>
            <a:ext cx="530352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566928" y="3273552"/>
            <a:ext cx="23317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875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603504" y="3273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← E − lr ·（梯度表方向）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　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V="1">
            <a:off x="1737360" y="2761488"/>
            <a:ext cx="0" cy="512064"/>
          </a:xfrm>
          <a:prstGeom prst="line">
            <a:avLst/>
          </a:prstGeom>
          <a:noFill/>
          <a:ln w="17780">
            <a:solidFill>
              <a:srgbClr val="3F7A52"/>
            </a:solidFill>
            <a:prstDash val="dash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1737360" y="2761488"/>
            <a:ext cx="2734056" cy="0"/>
          </a:xfrm>
          <a:prstGeom prst="line">
            <a:avLst/>
          </a:prstGeom>
          <a:noFill/>
          <a:ln w="17780">
            <a:solidFill>
              <a:srgbClr val="3F7A52"/>
            </a:solidFill>
            <a:prstDash val="dash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 flipV="1">
            <a:off x="4471416" y="2286000"/>
            <a:ext cx="0" cy="475488"/>
          </a:xfrm>
          <a:prstGeom prst="line">
            <a:avLst/>
          </a:prstGeom>
          <a:noFill/>
          <a:ln w="17780">
            <a:solidFill>
              <a:srgbClr val="3F7A52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192024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重複幾千次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4443984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786384" y="4572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整條鏈只有一格知道答案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86384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最後那個 cross-entropy。往下每一層都只是機械式微分，不知道任務是什麼。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306824" y="4443984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 txBox="1"/>
          <p:nvPr/>
        </p:nvSpPr>
        <p:spPr>
          <a:xfrm>
            <a:off x="4526280" y="4572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反向傳播還不會改權重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52628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只算出「該往哪修」，存進另一張梯度表 dE。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046720" y="4443984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 txBox="1"/>
          <p:nvPr/>
        </p:nvSpPr>
        <p:spPr>
          <a:xfrm>
            <a:off x="8266176" y="45720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Optimizer優化器</a:t>
            </a: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才動手改權重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266176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而且方向相反、步伐只有 lr 那麼小。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566928" y="58155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實線＝前向　·　虛線＝反向　　（z、p、y 這幾個符號稍後會有專頁定義，現在只要看流程）</a:t>
            </a:r>
            <a:endParaRPr lang="en-US" sz="11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718BA59B-C66D-5993-437A-819507314E46}"/>
              </a:ext>
            </a:extLst>
          </p:cNvPr>
          <p:cNvSpPr txBox="1"/>
          <p:nvPr/>
        </p:nvSpPr>
        <p:spPr>
          <a:xfrm>
            <a:off x="9957816" y="2330936"/>
            <a:ext cx="1600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00" b="1" dirty="0">
                <a:solidFill>
                  <a:srgbClr val="B23A32"/>
                </a:solidFill>
                <a:latin typeface="Cambria" pitchFamily="34" charset="0"/>
              </a:rPr>
              <a:t>p(64, 128, 6400)</a:t>
            </a:r>
          </a:p>
          <a:p>
            <a:r>
              <a:rPr lang="en-US" altLang="zh-TW" sz="900" b="1" dirty="0">
                <a:solidFill>
                  <a:srgbClr val="B23A32"/>
                </a:solidFill>
                <a:latin typeface="Cambria" pitchFamily="34" charset="0"/>
              </a:rPr>
              <a:t>L </a:t>
            </a:r>
            <a:r>
              <a:rPr lang="zh-TW" altLang="en-US" sz="900" b="1" dirty="0">
                <a:solidFill>
                  <a:srgbClr val="B23A32"/>
                </a:solidFill>
                <a:latin typeface="Cambria" pitchFamily="34" charset="0"/>
              </a:rPr>
              <a:t>純量</a:t>
            </a:r>
            <a:endParaRPr lang="en-US" altLang="zh-TW" sz="900" b="1" dirty="0">
              <a:solidFill>
                <a:srgbClr val="B23A32"/>
              </a:solidFill>
              <a:latin typeface="Cambria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路線圖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前半場建立直覺，後半場拆零件，最後跑一遍真的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86384" y="1700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7007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讀懂公式的最小前置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和 @ 都叫「乘」，但完全是兩回事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6824" y="1481328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26280" y="1700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2628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01768" y="17007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文字怎麼變成數字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BPE、詞表 6,400 的由來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481328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8266176" y="17007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8266176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41664" y="17007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與輸出層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查表、h @ Eᵀ、z / p / y / 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017520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86384" y="32369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6384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3236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模型的骨架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37124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Block、殘差、形狀怎麼變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06824" y="3017520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26280" y="32369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452628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01768" y="3236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三個零件拆開看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37124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/ Attention / FFN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0" y="3017520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8266176" y="323697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8266176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741664" y="323697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反向傳播全鏈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266176" y="37124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p − y 一路走回 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4553712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786384" y="4773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7A5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786384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61872" y="4773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權重是怎麼被改的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786384" y="5248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的關鍵性質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306824" y="4553712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4526280" y="4773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3F7A5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452628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001768" y="4773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怎麼確定沒推錯 · 跑一遍</a:t>
            </a:r>
            <a:endParaRPr lang="en-US" sz="1450" dirty="0"/>
          </a:p>
        </p:txBody>
      </p:sp>
      <p:sp>
        <p:nvSpPr>
          <p:cNvPr id="45" name="Text 43"/>
          <p:cNvSpPr txBox="1"/>
          <p:nvPr/>
        </p:nvSpPr>
        <p:spPr>
          <a:xfrm>
            <a:off x="4526280" y="5248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有限差分驗證、loss 曲線、生成結果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46720" y="4553712"/>
            <a:ext cx="35204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8266176" y="4773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 txBox="1"/>
          <p:nvPr/>
        </p:nvSpPr>
        <p:spPr>
          <a:xfrm>
            <a:off x="8266176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741664" y="4773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最後一個坑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8266176" y="52486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權重與 tokenizer 是綁死的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566928" y="614476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橘＝進模型之前　·　藍＝模型內部　·　紅＝梯度與陷阱　·　綠＝更新與驗證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讀懂公式的最小前置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只有一個觀念要先建立：兩種「乘法」的差別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逐元素相乘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矩陣乘法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為什麼這決定了模型的學習能力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符號速查表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與 @：兩個都念「乘」，但完全是兩回事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混淆這兩個，後面每一條公式都會讀錯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481328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[ 1  2 ; 3  4 ]        B = [ 5  6 ; 7  8 ]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6208" y="1481328"/>
            <a:ext cx="5404104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364224" y="1481328"/>
            <a:ext cx="5148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同樣的輸入，兩種算法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86F14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7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逐元素相乘（Hadamard 哈達馬乘積）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7980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</a:t>
            </a:r>
            <a:r>
              <a:rPr lang="en-US" sz="16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B)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B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3200400"/>
            <a:ext cx="4846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969264" y="3200400"/>
            <a:ext cx="4590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[ 1×5   2×6 ;   3×7   4×8 ]  =  [ 5   12 ;   21   32 ]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1330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每一格只跟「同一格」的對手相乘，跟其他格完全無關。形狀不變。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2231136"/>
            <a:ext cx="5404104" cy="2788920"/>
          </a:xfrm>
          <a:prstGeom prst="roundRect">
            <a:avLst>
              <a:gd name="adj" fmla="val 3279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6510528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　矩陣乘法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279806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@ B)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B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kj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10528" y="3200400"/>
            <a:ext cx="4855464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6638544" y="3200400"/>
            <a:ext cx="4599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[ 1×5+2×7   1×6+2×8 ;   3×5+4×7   3×6+4×8 ]  =  [ 19   22 ;   43   50 ]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4133088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左邊的「列」跟右邊的「行」做點積 —— 用到了一整列和一整行，也就是所有維度。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175504"/>
            <a:ext cx="11057839" cy="969264"/>
          </a:xfrm>
          <a:prstGeom prst="roundRect">
            <a:avLst>
              <a:gd name="adj" fmla="val 8491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877824" y="5175504"/>
            <a:ext cx="17373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同一個左上角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761488" y="52669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2761488" y="5797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150" dirty="0">
                <a:solidFill>
                  <a:srgbClr val="626D7A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　＝ 1 × 5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321808" y="52669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5FB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57972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 B　＝ 1 × 5 + 2 × 7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175504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6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可執行對照：python tools/demo_operators.py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真正的差別：會不會把不同維度混在一起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這一件事決定了它們在模型裡的角色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682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6F14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5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每條線都是平行的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9848" y="221284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106424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15768" y="2441448"/>
            <a:ext cx="1097280" cy="0"/>
          </a:xfrm>
          <a:prstGeom prst="line">
            <a:avLst/>
          </a:prstGeom>
          <a:noFill/>
          <a:ln w="17780">
            <a:solidFill>
              <a:srgbClr val="E09B2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904488" y="221284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41064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69848" y="28346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1106424" y="2834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15768" y="3063240"/>
            <a:ext cx="1097280" cy="0"/>
          </a:xfrm>
          <a:prstGeom prst="line">
            <a:avLst/>
          </a:prstGeom>
          <a:noFill/>
          <a:ln w="17780">
            <a:solidFill>
              <a:srgbClr val="E09B2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904488" y="28346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3941064" y="2834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69848" y="345643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06424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15768" y="3685032"/>
            <a:ext cx="1097280" cy="0"/>
          </a:xfrm>
          <a:prstGeom prst="line">
            <a:avLst/>
          </a:prstGeom>
          <a:noFill/>
          <a:ln w="17780">
            <a:solidFill>
              <a:srgbClr val="E09B2D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904488" y="345643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3941064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3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1696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資訊不會橫向流動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1517904"/>
            <a:ext cx="5404104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510528" y="1682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　每個輸出都吃進所有輸入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48272" y="221284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784848" y="22128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48272" y="28346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6784848" y="28346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48272" y="345643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6784848" y="345643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46920" y="2523744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9683496" y="2523744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新維度 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646920" y="3145536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9683496" y="3145536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新維度 2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94192" y="2441448"/>
            <a:ext cx="1161288" cy="310896"/>
          </a:xfrm>
          <a:prstGeom prst="line">
            <a:avLst/>
          </a:prstGeom>
          <a:noFill/>
          <a:ln w="1143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8394192" y="2441448"/>
            <a:ext cx="1161288" cy="932688"/>
          </a:xfrm>
          <a:prstGeom prst="line">
            <a:avLst/>
          </a:prstGeom>
          <a:noFill/>
          <a:ln w="1143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 flipV="1">
            <a:off x="8394192" y="2752344"/>
            <a:ext cx="1161288" cy="310896"/>
          </a:xfrm>
          <a:prstGeom prst="line">
            <a:avLst/>
          </a:prstGeom>
          <a:noFill/>
          <a:ln w="1143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8394192" y="3063240"/>
            <a:ext cx="1161288" cy="310896"/>
          </a:xfrm>
          <a:prstGeom prst="line">
            <a:avLst/>
          </a:prstGeom>
          <a:noFill/>
          <a:ln w="1143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 flipV="1">
            <a:off x="8394192" y="2752344"/>
            <a:ext cx="1161288" cy="932688"/>
          </a:xfrm>
          <a:prstGeom prst="line">
            <a:avLst/>
          </a:prstGeom>
          <a:noFill/>
          <a:ln w="1143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 flipV="1">
            <a:off x="8394192" y="3374136"/>
            <a:ext cx="1161288" cy="310896"/>
          </a:xfrm>
          <a:prstGeom prst="line">
            <a:avLst/>
          </a:prstGeom>
          <a:noFill/>
          <a:ln w="1143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 txBox="1"/>
          <p:nvPr/>
        </p:nvSpPr>
        <p:spPr>
          <a:xfrm>
            <a:off x="6510528" y="4169664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所有維度都被混在一起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6928" y="4791456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896112" y="4791456"/>
            <a:ext cx="1039947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E09B2D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9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永遠不會把不同維度的資訊混在一起。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所以模型的「學習能力」幾乎全部來自 @，</a:t>
            </a:r>
            <a:r>
              <a:rPr lang="en-US" sz="1350" dirty="0">
                <a:solidFill>
                  <a:srgbClr val="C3CCD5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3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只負責調整強度 —— 這也解釋了為什麼「疊很多個 </a:t>
            </a:r>
            <a:r>
              <a:rPr lang="en-US" sz="1350" dirty="0">
                <a:solidFill>
                  <a:srgbClr val="C3CCD5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3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」沒有用：不管乘幾次，維度 1 永遠只影響維度 1。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所以它們在模型裡的分工是固定的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看到符號就知道那一步在做什麼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符號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出現在哪一層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在做什麼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Linear（全連接）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x @ Wᵀ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d 維換成另外 d_out 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 @ Kᵀ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每個位置跟每個位置做點積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 @ Eᵀ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隱藏狀態跟每個詞向量做點積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6F14"/>
                          </a:solidFill>
                          <a:latin typeface="Cambria Math" pitchFamily="34" charset="0"/>
                          <a:ea typeface="Calibri" pitchFamily="34" charset="-122"/>
                          <a:cs typeface="Cambria Math" pitchFamily="34" charset="-120"/>
                        </a:rPr>
                        <a:t>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RMSNorm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g </a:t>
                      </a:r>
                      <a:r>
                        <a:rPr lang="en-US" sz="1250" dirty="0">
                          <a:solidFill>
                            <a:srgbClr val="1B2430"/>
                          </a:solidFill>
                          <a:latin typeface="Cambria Math" pitchFamily="34" charset="0"/>
                          <a:ea typeface="Courier New" pitchFamily="34" charset="-122"/>
                          <a:cs typeface="Cambria Math" pitchFamily="34" charset="-120"/>
                        </a:rPr>
                        <a:t>⊙</a:t>
                      </a: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x̂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每個維度乘上自己的縮放係數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6F14"/>
                          </a:solidFill>
                          <a:latin typeface="Cambria Math" pitchFamily="34" charset="0"/>
                          <a:ea typeface="Calibri" pitchFamily="34" charset="-122"/>
                          <a:cs typeface="Cambria Math" pitchFamily="34" charset="-120"/>
                        </a:rPr>
                        <a:t>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SwiGLU（FFN）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 = s </a:t>
                      </a:r>
                      <a:r>
                        <a:rPr lang="en-US" sz="1250" dirty="0">
                          <a:solidFill>
                            <a:srgbClr val="1B2430"/>
                          </a:solidFill>
                          <a:latin typeface="Cambria Math" pitchFamily="34" charset="0"/>
                          <a:ea typeface="Courier New" pitchFamily="34" charset="-122"/>
                          <a:cs typeface="Cambria Math" pitchFamily="34" charset="-120"/>
                        </a:rPr>
                        <a:t>⊙</a:t>
                      </a: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u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閘門：每個維度各自決定放行多少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A86F14"/>
                          </a:solidFill>
                          <a:latin typeface="Cambria Math" pitchFamily="34" charset="0"/>
                          <a:ea typeface="Calibri" pitchFamily="34" charset="-122"/>
                          <a:cs typeface="Cambria Math" pitchFamily="34" charset="-120"/>
                        </a:rPr>
                        <a:t>⊙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RoPE（位置編碼）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</a:t>
                      </a:r>
                      <a:r>
                        <a:rPr lang="en-US" sz="1250" dirty="0">
                          <a:solidFill>
                            <a:srgbClr val="1B2430"/>
                          </a:solidFill>
                          <a:latin typeface="Cambria Math" pitchFamily="34" charset="0"/>
                          <a:ea typeface="Courier New" pitchFamily="34" charset="-122"/>
                          <a:cs typeface="Cambria Math" pitchFamily="34" charset="-120"/>
                        </a:rPr>
                        <a:t>⊙</a:t>
                      </a: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cos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每個維度乘上自己的旋轉係數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427939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反向傳播的規則也跟著不一樣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4681728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 txBox="1"/>
          <p:nvPr/>
        </p:nvSpPr>
        <p:spPr>
          <a:xfrm>
            <a:off x="859536" y="480974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a </a:t>
            </a:r>
            <a:r>
              <a:rPr lang="en-US" sz="15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∂L/∂a = ∂L/∂y </a:t>
            </a:r>
            <a:r>
              <a:rPr lang="en-US" sz="15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859536" y="5559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一個輸入只影響一個輸出 → 不用加總，直接乘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4681728"/>
            <a:ext cx="5404104" cy="1481328"/>
          </a:xfrm>
          <a:prstGeom prst="roundRect">
            <a:avLst>
              <a:gd name="adj" fmla="val 6173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 txBox="1"/>
          <p:nvPr/>
        </p:nvSpPr>
        <p:spPr>
          <a:xfrm>
            <a:off x="6528816" y="480974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x @ Wᵀ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 = ∂L/∂y @ W　　∂L/∂W = (∂L/∂y)ᵀ @ x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528816" y="5559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一個輸入影響多個輸出 → 要把所有路徑加起來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符號速查：只要記這些就夠了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後面所有公式都只用到這張表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63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形狀與維度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符號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本專案的值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size，一次處理幾段文字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序列長度，一段文字幾個 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模型維度（hidden size）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head 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d_head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 head 的維度 ＝ d /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d_ff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FFN 的中間維度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|V|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詞表大小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66928" y="45537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張量形狀寫成 (B, T, d)，最後一維永遠是「特徵維度」。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1463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微分符號（白話版）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36208" y="1828800"/>
            <a:ext cx="5404104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8"/>
          <p:cNvSpPr txBox="1"/>
          <p:nvPr/>
        </p:nvSpPr>
        <p:spPr>
          <a:xfrm>
            <a:off x="6455664" y="18288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18288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x 動一丁點，L 會變多少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36208" y="2487168"/>
            <a:ext cx="5404104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6455664" y="24871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∂L/∂x（粗體 x）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48716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對整個向量微分，結果跟 x 同形狀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6208" y="3145536"/>
            <a:ext cx="5404104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6455664" y="314553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‖x‖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14553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向量長度 √( Σ x_{k}² 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36208" y="3803904"/>
            <a:ext cx="5404104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 txBox="1"/>
          <p:nvPr/>
        </p:nvSpPr>
        <p:spPr>
          <a:xfrm>
            <a:off x="6455664" y="3803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δ_{ij}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380390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j 時為 1，否則為 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36208" y="4462272"/>
            <a:ext cx="5404104" cy="566928"/>
          </a:xfrm>
          <a:prstGeom prst="roundRect">
            <a:avLst>
              <a:gd name="adj" fmla="val 11290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 txBox="1"/>
          <p:nvPr/>
        </p:nvSpPr>
        <p:spPr>
          <a:xfrm>
            <a:off x="6455664" y="4462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← θ − η 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44622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「更新」，不是等式 —— 用右邊的值取代左邊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236208" y="5193792"/>
            <a:ext cx="5404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程式碼裡為了簡潔，∂L/∂x 一律寫成 dx。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文字怎麼變成數字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—— 整條流程裡唯一沒有神經網路的階段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到底在做什麼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「6,400」這個數字的由來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為什麼它同時是模型的架構參數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 tokenizer 之後 loss 不能直接比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是模型「外面」的一個階段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它在訓練開始前就跑完，之後整個訓練過程都不會再變動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572768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原始語料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9696" y="1993392"/>
            <a:ext cx="292608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432304" y="157276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2468880" y="1572768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預切分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切成詞塊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05072" y="1993392"/>
            <a:ext cx="292608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57276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4334256" y="1572768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起始詞表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＝所有相異字元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0448" y="1993392"/>
            <a:ext cx="292608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63056" y="157276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99632" y="1572768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統計相鄰配對次數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35824" y="1993392"/>
            <a:ext cx="292608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028432" y="157276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8065008" y="1572768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合併最高頻那組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 +1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1993392"/>
            <a:ext cx="292608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9893808" y="157276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9930384" y="1572768"/>
            <a:ext cx="1499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詞表定案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vocab_size = 6,400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30768" y="2414016"/>
            <a:ext cx="0" cy="402336"/>
          </a:xfrm>
          <a:prstGeom prst="line">
            <a:avLst/>
          </a:prstGeom>
          <a:noFill/>
          <a:ln w="17780">
            <a:solidFill>
              <a:srgbClr val="A86F14"/>
            </a:solidFill>
            <a:prstDash val="dash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 flipH="1">
            <a:off x="6565392" y="2816352"/>
            <a:ext cx="1865376" cy="0"/>
          </a:xfrm>
          <a:prstGeom prst="line">
            <a:avLst/>
          </a:prstGeom>
          <a:noFill/>
          <a:ln w="17780">
            <a:solidFill>
              <a:srgbClr val="A86F14"/>
            </a:solidFill>
            <a:prstDash val="dash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 flipV="1">
            <a:off x="6565392" y="2414016"/>
            <a:ext cx="0" cy="402336"/>
          </a:xfrm>
          <a:prstGeom prst="line">
            <a:avLst/>
          </a:prstGeom>
          <a:noFill/>
          <a:ln w="17780">
            <a:solidFill>
              <a:srgbClr val="A86F14"/>
            </a:solidFill>
            <a:prstDash val="dash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667512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還沒到 6,400 就再合併一次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346704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896112" y="3346704"/>
            <a:ext cx="1039947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這裡沒有任何學習。</a:t>
            </a:r>
            <a:r>
              <a:rPr lang="en-US" sz="150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沒有梯度、沒有神經網路、沒有 loss —— 純粹是貪婪的頻率統計。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5171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但它決定了模型的四件事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6928" y="4901184"/>
            <a:ext cx="2615184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768096" y="5029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詞表大小 |V|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68096" y="53766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直接等於 embedding 的列數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92424" y="4901184"/>
            <a:ext cx="2615184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3593592" y="5029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參數量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93592" y="53766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|V| · d ＝ 6,400 × 256 ＝ 1.6M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4901184"/>
            <a:ext cx="2615184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6419088" y="5029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張量大小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19088" y="53766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× T × |V| ，訓練時最大的中間張量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43416" y="4901184"/>
            <a:ext cx="2615184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 txBox="1"/>
          <p:nvPr/>
        </p:nvSpPr>
        <p:spPr>
          <a:xfrm>
            <a:off x="9244584" y="50292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實際序列長度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9244584" y="537667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比字元級短約 30%，而 attention 是 O(n²)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「詞表 6,400 個 token，這個數字是哪來的？」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不是算出來的 —— 是你自己挑的停止條件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517904"/>
            <a:ext cx="1080180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|V|  =  |V</a:t>
            </a:r>
            <a:r>
              <a:rPr lang="en-US" sz="22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 +  M          起始符號數  ＋  合併次數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每合併一次，詞表就多一個。想要 |V| = 6,400，就合併到總數變成 6,400 為止。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5394960" cy="1517904"/>
          </a:xfrm>
          <a:prstGeom prst="roundRect">
            <a:avLst>
              <a:gd name="adj" fmla="val 6024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59536" y="3054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實測（tests/test_bpe.py）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34670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5,227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822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起始詞表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特殊 ＋ 5,223 字元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441448" y="3346704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334670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852928" y="3822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需要合併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（次數）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224528" y="3346704"/>
            <a:ext cx="402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334670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6,400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626864" y="38221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最終詞表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926080"/>
            <a:ext cx="5404104" cy="1517904"/>
          </a:xfrm>
          <a:prstGeom prst="roundRect">
            <a:avLst>
              <a:gd name="adj" fmla="val 60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30540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合併紀錄長什麼樣（traces/bpe_training.txt）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4015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合併 #1      '可'+'以' → '可以'    23,763 次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合併 #1000   '生'+'產' → '生產'         393 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26864"/>
            <a:ext cx="11057839" cy="1481328"/>
          </a:xfrm>
          <a:prstGeom prst="roundRect">
            <a:avLst>
              <a:gd name="adj" fmla="val 617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877824" y="47731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一個很實用的判斷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120640"/>
            <a:ext cx="1043604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注意合併次數一路遞減：23,763 → 393。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如果最後幾次合併已經降到個位數，代表詞表開太大了 —— 那些 token 學不到什麼東西。反過來，如果停下來時次數還有好幾百，代表還可以再擴。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詞表大小不只是 tokenizer 的參數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它同時是模型的架構參數 —— 改它會改變模型的形狀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630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切分效果（同一份語料、同一個模型）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76656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9568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1956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機器學習是人工智慧的一個分支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字元級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['機','器','學','習','是','人','工','智','慧','的','一','個','分','支']    14 tokens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['機器學習', '是', '人', '工智慧', '的一個', '分', '支']    7 tokens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07808" y="1828800"/>
            <a:ext cx="4032504" cy="1371600"/>
          </a:xfrm>
          <a:prstGeom prst="roundRect">
            <a:avLst>
              <a:gd name="adj" fmla="val 6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863840" y="19751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A86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−29.4%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24140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序列長度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（500 段實測）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20116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是 O(n²)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序列短一半，注意力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計算量剩四分之一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310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「機器學習」變成一個 token —— 模型不必再從四個字元學會它們常常一起出現，那件事在 tokenizer 階段就處理掉了。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803904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841248" y="3950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 → embedding 參數量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" y="4315968"/>
            <a:ext cx="4846320" cy="548640"/>
          </a:xfrm>
          <a:prstGeom prst="roundRect">
            <a:avLst>
              <a:gd name="adj" fmla="val 11667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969264" y="4315968"/>
            <a:ext cx="4590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|θ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 =  |V| × 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9743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詞表開兩倍，embedding 就大兩倍。而且因為 weight tying，同一個矩陣還兼任輸出層 —— 所以 logits 張量也跟著變大。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3803904"/>
            <a:ext cx="5404104" cy="2286000"/>
          </a:xfrm>
          <a:prstGeom prst="roundRect">
            <a:avLst>
              <a:gd name="adj" fmla="val 4000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510528" y="39502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注意：換 tokenizer 之後，loss 不能直接比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10528" y="43159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字元級 3,195 詞表 → loss 2.24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BPE 6,400 詞表 → loss 2.76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10528" y="4937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後者看起來比較差，但每個 token 攜帶的資訊量更大、猜對更難。要公平比較得換算成 bits-per-character：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5504688"/>
            <a:ext cx="485546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6638544" y="5504688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bpc = L · N</a:t>
            </a:r>
            <a:r>
              <a:rPr lang="en-US" sz="1400" b="1" baseline="-40000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</a:t>
            </a:r>
            <a:r>
              <a:rPr lang="en-US" sz="1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 N</a:t>
            </a:r>
            <a:r>
              <a:rPr lang="en-US" sz="1400" b="1" baseline="-40000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</a:t>
            </a:r>
            <a:r>
              <a:rPr lang="en-US" sz="1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ln2 )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與輸出層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同一張表 E，進來時用來「讀」，出去時用來「寫」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查表為什麼是矩陣乘法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輸出層：從 256 維回到 6,400 個字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/ p / y / L 四個符號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反向為什麼是相加（scatter-add）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「離散的 id 怎麼微分？」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誤解 ①「embedding 是資料，不是模型的一部分」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錯。它是權重，跟 q_proj 完全平起平坐。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669280" cy="2487168"/>
          </a:xfrm>
          <a:prstGeom prst="roundRect">
            <a:avLst>
              <a:gd name="adj" fmla="val 3676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664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9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train.py --steps 1 --trace-steps 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048256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model.embed.E          1,638,400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block0.attn.q_proj.W      65,536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block0.ffn.gate_proj.W   172,032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拿到 38 個參數張量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98848" y="2029968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4498848" y="20299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就是它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10528" y="1517904"/>
            <a:ext cx="5129784" cy="2487168"/>
          </a:xfrm>
          <a:prstGeom prst="roundRect">
            <a:avLst>
              <a:gd name="adj" fmla="val 367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784848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追蹤檔裡兩者的更新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20848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位移 E[...]      −0.000500  +0.000500  +0.000500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位移 q_proj      +0.000500  +0.000500  −0.000500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84848" y="2889504"/>
            <a:ext cx="4572000" cy="896112"/>
          </a:xfrm>
          <a:prstGeom prst="roundRect">
            <a:avLst>
              <a:gd name="adj" fmla="val 816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67728" y="2889504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 optimizer、同一套規則、同樣的 ±lr。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「embedding 有一套自己的訓練方法」這件事不存在。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2245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換個框架就通了 —— E 就是「第 0 層」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08576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權重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0 層（embedding）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one-hot（固定資料）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86F1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詞向量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詞向量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w_q, w_k, w_v, FFN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新的向量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66928" y="588873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層的「輸入」就是第 0 層的「輸出」。梯度傳到第 1 層的輸入時不會停在那裡 —— 它繼續往下，變成 E 的梯度。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查表，其實是一次 one-hot 矩陣乘法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把它看成矩陣乘法很重要 —— 因為反向就是從這裡推出來的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481328"/>
            <a:ext cx="108018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onehot(v) @ E ,          E </a:t>
            </a:r>
            <a:r>
              <a:rPr lang="en-US" sz="19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∈</a:t>
            </a: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ℝ</a:t>
            </a:r>
            <a:r>
              <a:rPr lang="en-US" sz="1900" b="1" baseline="3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|V| × 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2340864"/>
            <a:ext cx="11057839" cy="1975104"/>
          </a:xfrm>
          <a:prstGeom prst="roundRect">
            <a:avLst>
              <a:gd name="adj" fmla="val 463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886968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onehot(4)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6968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923544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9304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1325880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1728216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93976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2130552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96312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09B2D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2532888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98648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2935224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00984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3337560" y="28346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個是 1，其餘全 0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904488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　（|V| × d）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44568" y="272491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4581144" y="272491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44568" y="2980944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4581144" y="298094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44568" y="3236976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4581144" y="3236976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44568" y="3493008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4581144" y="349300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44568" y="3749040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4581144" y="374904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E[4]  =  −0.0153   +0.0284  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44568" y="4005072"/>
            <a:ext cx="2286000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4581144" y="40050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13448" y="2999232"/>
            <a:ext cx="640080" cy="0"/>
          </a:xfrm>
          <a:prstGeom prst="line">
            <a:avLst/>
          </a:prstGeom>
          <a:noFill/>
          <a:ln w="2032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 txBox="1"/>
          <p:nvPr/>
        </p:nvSpPr>
        <p:spPr>
          <a:xfrm>
            <a:off x="7790688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 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90688" y="283464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 txBox="1"/>
          <p:nvPr/>
        </p:nvSpPr>
        <p:spPr>
          <a:xfrm>
            <a:off x="7827264" y="28346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−0.0153   +0.0284   +0.0111   …   （256 維）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790688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就是把 E 的第 4 列原封不動抄出來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4535424"/>
            <a:ext cx="5669280" cy="1572768"/>
          </a:xfrm>
          <a:prstGeom prst="roundRect">
            <a:avLst>
              <a:gd name="adj" fmla="val 5814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 txBox="1"/>
          <p:nvPr/>
        </p:nvSpPr>
        <p:spPr>
          <a:xfrm>
            <a:off x="859536" y="4681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那實作為什麼寫成 x = E[ids]？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59536" y="5029200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 (|V|−1)/|V| = 99.98% 的乘法都是「乘以 0」。兩者結果逐位元相同，實測查表快 20 倍以上、省 8 倍記憶體。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510528" y="4535424"/>
            <a:ext cx="5129784" cy="1572768"/>
          </a:xfrm>
          <a:prstGeom prst="roundRect">
            <a:avLst>
              <a:gd name="adj" fmla="val 5814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 txBox="1"/>
          <p:nvPr/>
        </p:nvSpPr>
        <p:spPr>
          <a:xfrm>
            <a:off x="6784848" y="4681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所以前向沒有任何「學習」動作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784848" y="5029200"/>
            <a:ext cx="4572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就是陣列索引。導數是 1 —— 這也預告了反向：它不會對梯度做任何變換，只負責把梯度送回正確的那一列。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輸出層：從 256 維回到 6,400 個字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的第二個用途 —— 進來時「id → 向量」，出去時「向量 → 每個 id 的分數」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48132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59105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個數字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19019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模型想說的話，但還沒翻譯成詞表的語言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481328"/>
            <a:ext cx="5404104" cy="914400"/>
          </a:xfrm>
          <a:prstGeom prst="roundRect">
            <a:avLst>
              <a:gd name="adj" fmla="val 10000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510528" y="148132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|V|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42048" y="15910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 個 token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42048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數量對不上 —— 所以 h 不可能是「對每個詞的分數」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542032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" y="2542032"/>
            <a:ext cx="108018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logits[t][v]  =  h[t] · E[v]          隱藏狀態 · 詞向量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66928" y="3529584"/>
            <a:ext cx="1280160" cy="786384"/>
          </a:xfrm>
          <a:prstGeom prst="roundRect">
            <a:avLst>
              <a:gd name="adj" fmla="val 6977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603504" y="3529584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維)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47088" y="3922776"/>
            <a:ext cx="36576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212848" y="3438144"/>
            <a:ext cx="5852160" cy="969264"/>
          </a:xfrm>
          <a:prstGeom prst="roundRect">
            <a:avLst>
              <a:gd name="adj" fmla="val 754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2414016" y="35112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跟詞表裡每一個詞向量各做一次點積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414016" y="37490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· E[0] = −0.05929      h · E[1] = +0.48077      h · E[2] = −0.21864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· E[3] = −0.18226      h · E[4] = +0.63529      </a:t>
            </a:r>
            <a:r>
              <a:rPr lang="en-US" sz="1000" dirty="0">
                <a:solidFill>
                  <a:srgbClr val="1B2430"/>
                </a:solidFill>
                <a:latin typeface="Cambria Math" pitchFamily="34" charset="0"/>
                <a:ea typeface="Courier New" pitchFamily="34" charset="-122"/>
                <a:cs typeface="Cambria Math" pitchFamily="34" charset="-120"/>
              </a:rPr>
              <a:t>⋯</a:t>
            </a: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共 6,400 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65008" y="3922776"/>
            <a:ext cx="36576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430768" y="3529584"/>
            <a:ext cx="3209544" cy="786384"/>
          </a:xfrm>
          <a:prstGeom prst="roundRect">
            <a:avLst>
              <a:gd name="adj" fmla="val 6977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8467344" y="3529584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 個分數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846320"/>
          <a:ext cx="6766560" cy="1042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被拿來做什麼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輸入端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→ 向量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查表，抄出 E[5868] 那一列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 → 分數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跟每個 E[v] 做點積，得到 6,400 個分數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66928" y="594360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同一張表，進來時用來「讀」，出去時用來「寫」。這是一個選擇（weight tying）—— 不共用的話這裡要多 1,638,400 個參數。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16368" y="4846320"/>
            <a:ext cx="4123944" cy="1298448"/>
          </a:xfrm>
          <a:prstGeom prst="roundRect">
            <a:avLst>
              <a:gd name="adj" fmla="val 704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5"/>
          <p:cNvSpPr txBox="1"/>
          <p:nvPr/>
        </p:nvSpPr>
        <p:spPr>
          <a:xfrm>
            <a:off x="7735824" y="495604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注意：點積不是「距離」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735824" y="524865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· E[v] = |h| × |E[v]| × cos θ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735824" y="554126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長度也算分 —— 詞向量夠長，角度沒那麼準也可能贏。高頻詞可以靠養長向量拿到基礎加分。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輸出端的四個符號：z → p → y → 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全景圖上那個 dz = p − y，符號都在這裡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5727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 個原始分數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2928" y="1984248"/>
            <a:ext cx="64008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493008" y="157276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9584" y="15727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 個機率，和 =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79008" y="1984248"/>
            <a:ext cx="64008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E5F0E9"/>
          </a:solidFill>
          <a:ln w="12700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55664" y="15727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p[正解]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取出一格 → 一個數字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05088" y="1984248"/>
            <a:ext cx="64008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345168" y="157276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9E7E5"/>
          </a:solidFill>
          <a:ln w="12700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9381744" y="157276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一個純量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6148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8756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取正解那格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1364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52928"/>
          <a:ext cx="11055096" cy="1828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7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符號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是什麼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步的實測值（正解 = id 5868）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6F1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輸出層算出的原始分數，可正可負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−0.05929  +0.48077  −0.21864  </a:t>
                      </a:r>
                      <a:r>
                        <a:rPr lang="en-US" sz="1200" dirty="0">
                          <a:solidFill>
                            <a:srgbClr val="1B2430"/>
                          </a:solidFill>
                          <a:latin typeface="Cambria Math" pitchFamily="34" charset="0"/>
                          <a:ea typeface="Courier New" pitchFamily="34" charset="-122"/>
                          <a:cs typeface="Cambria Math" pitchFamily="34" charset="-120"/>
                        </a:rPr>
                        <a:t>⋯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softmax(z)，機率，全部加起來 =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最高的是 id 4656 → 0.00048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26D7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正解的 one-hot，只有一格是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第 5868 格 = 1，其餘 6,399 格 = 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−log p[正解]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−log(0.000265) = 8.2359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66928" y="4791456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 txBox="1"/>
          <p:nvPr/>
        </p:nvSpPr>
        <p:spPr>
          <a:xfrm>
            <a:off x="841248" y="4901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為什麼只看正解那一格？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41248" y="5193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−Σ</a:t>
            </a:r>
            <a:r>
              <a:rPr lang="en-US" sz="125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</a:t>
            </a:r>
            <a:r>
              <a:rPr lang="en-US" sz="125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log p</a:t>
            </a:r>
            <a:r>
              <a:rPr lang="en-US" sz="125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</a:t>
            </a:r>
            <a:r>
              <a:rPr lang="en-US" sz="125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⟹</a:t>
            </a:r>
            <a:r>
              <a:rPr lang="en-US" sz="12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其他 6,399 項都乘以 0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841248" y="5504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不是偷懶只看一格，是化簡後的結果。而且 softmax 已經把 6,400 格綁死（和 = 1），推高正解就等於壓低其他 —— 一個數字足以約束整張表。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236208" y="4791456"/>
            <a:ext cx="5404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−log 把「機率」翻譯成「驚訝程度」</a:t>
            </a:r>
            <a:endParaRPr lang="en-US" sz="13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5138928"/>
          <a:ext cx="5404104" cy="13030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6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p[正解]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完全正確，不罰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/ 6400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8.76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等於瞎猜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0.000265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8.24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步的實測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∞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自信地猜錯，無上限重罰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反向：scatter-add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 gather，反向 scatter-add —— 這個對稱不是設計出來的，是導數為 1 的必然結果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21792"/>
          </a:xfrm>
          <a:prstGeom prst="roundRect">
            <a:avLst>
              <a:gd name="adj" fmla="val 1029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481328"/>
            <a:ext cx="1080180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∂L/∂E  =  Oᵀ G          展開後：   ∂L/∂E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Σ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: id_t = v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白話：把每個位置的梯度，加回它當初查表的那一列；同一列有多筆就相加。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41248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　gather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145536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77824" y="3145536"/>
            <a:ext cx="1664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15768" y="3785616"/>
            <a:ext cx="1280160" cy="0"/>
          </a:xfrm>
          <a:prstGeom prst="line">
            <a:avLst/>
          </a:prstGeom>
          <a:noFill/>
          <a:ln w="2032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2670048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 id 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33088" y="3145536"/>
            <a:ext cx="1828800" cy="1280160"/>
          </a:xfrm>
          <a:prstGeom prst="roundRect">
            <a:avLst>
              <a:gd name="adj" fmla="val 4286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169664" y="3145536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0…T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的向量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10528" y="2651760"/>
            <a:ext cx="512978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84848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　scatter-add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4848" y="3145536"/>
            <a:ext cx="1828800" cy="1280160"/>
          </a:xfrm>
          <a:prstGeom prst="roundRect">
            <a:avLst>
              <a:gd name="adj" fmla="val 4286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6821424" y="3145536"/>
            <a:ext cx="175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每個位置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的梯度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50808" y="3785616"/>
            <a:ext cx="1280160" cy="0"/>
          </a:xfrm>
          <a:prstGeom prst="line">
            <a:avLst/>
          </a:prstGeom>
          <a:noFill/>
          <a:ln w="2032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8613648" y="33467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加回原本那列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重複的相加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68128" y="3145536"/>
            <a:ext cx="1197864" cy="1280160"/>
          </a:xfrm>
          <a:prstGeom prst="roundRect">
            <a:avLst>
              <a:gd name="adj" fmla="val 458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10204704" y="3145536"/>
            <a:ext cx="1124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956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兩個常被誤會成「特殊規則」的性質，其實都只是算出來的結果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321808"/>
          <a:ext cx="11055096" cy="987552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為什麼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同一個 token 出現 k 次 → 那一列收到 k 筆梯度相加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Oᵀ 那一列有 k 個 1，矩陣乘法自然就加起來了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沒出現過的 token → 梯度是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Oᵀ 那一列全是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E 的梯度其實有兩條路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 weight tying —— E 同時是輸出層的權重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32688" y="1883664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969264" y="1883664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（同一個張量）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7208" y="2121408"/>
            <a:ext cx="1234440" cy="0"/>
          </a:xfrm>
          <a:prstGeom prst="line">
            <a:avLst/>
          </a:prstGeom>
          <a:noFill/>
          <a:ln w="2032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2761488" y="18470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輸入側：查表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7208" y="2523744"/>
            <a:ext cx="1234440" cy="0"/>
          </a:xfrm>
          <a:prstGeom prst="line">
            <a:avLst/>
          </a:prstGeom>
          <a:noFill/>
          <a:ln w="2032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2578608" y="2615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輸出側：logits = h @ Eᵀ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78808" y="188366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4215384" y="18836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scatter-add 回來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78808" y="23774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215384" y="23774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那條路回來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19088" y="2121408"/>
            <a:ext cx="640080" cy="237744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 flipV="1">
            <a:off x="6419088" y="2359152"/>
            <a:ext cx="640080" cy="237744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7196328" y="212140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7232904" y="212140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05088" y="2350008"/>
            <a:ext cx="64008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482328" y="212140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9518904" y="212140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總梯度 dE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38144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來源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∂L/∂E₄[0]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有幾列非零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稀疏還是稠密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輸入側（scatter-add）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+0.01673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272 / 3,195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86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稀疏 —— 只有出現過的 token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輸出側（weight tying）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+0.00500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3,195 / 3,195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稠密 —— 每一步每一列都被碰到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+0.02174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3,195 / 3,195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稠密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66928" y="5120640"/>
            <a:ext cx="11057839" cy="1024128"/>
          </a:xfrm>
          <a:prstGeom prst="roundRect">
            <a:avLst>
              <a:gd name="adj" fmla="val 8929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 txBox="1"/>
          <p:nvPr/>
        </p:nvSpPr>
        <p:spPr>
          <a:xfrm>
            <a:off x="896112" y="5120640"/>
            <a:ext cx="1039947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所以「embedding 的梯度是稀疏的」這句話，在有 weight tying 的模型上並不成立。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想親眼驗證：把 TinyLM(..., tie_weights=False) 跑一次，非零列就會剩下 272。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誤解 ③「token id 是離散的，所以沒辦法微分」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混淆了兩個東西 —— 不對 id 微分，它是資料不是參數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是什麼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離散 / 連續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微分嗎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 = 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離散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不用，也不能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E[4][0] = −0.0153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連續實數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對它微分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2852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梯度問的是這件事，跟 id 是不是離散完全無關：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3200400"/>
            <a:ext cx="5669280" cy="713232"/>
          </a:xfrm>
          <a:prstGeom prst="roundRect">
            <a:avLst>
              <a:gd name="adj" fmla="val 897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 txBox="1"/>
          <p:nvPr/>
        </p:nvSpPr>
        <p:spPr>
          <a:xfrm>
            <a:off x="694944" y="3200400"/>
            <a:ext cx="5413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∂L/∂E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lim  [ L(E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+ε) − L(E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−ε) ] / 2ε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10528" y="3200400"/>
            <a:ext cx="5129784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6675120" y="320040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f(a,b,c) = a + b     </a:t>
            </a:r>
            <a:r>
              <a:rPr lang="en-US" sz="15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⟹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∂f/∂c = 0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114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有限差分實測（ε = 10⁻³，句子含重複的「在」）</a:t>
            </a:r>
            <a:endParaRPr lang="en-US" sz="15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8056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(L₊ − L₋) / 2ε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公式算出來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E₂,₀（在）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0.246048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0.246000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查兩次，斜率加倍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E₀,₀（貓）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0.123024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0.123000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查一次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E₁,₀（狗）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沒被查到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66928" y="5998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「狗」那一列 L(w+ε) 和 L(w−ε) 完全相等 —— </a:t>
            </a:r>
            <a:r>
              <a:rPr lang="en-US" sz="13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不是「不能微分」，是「算出來就是 0」。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模型的骨架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Block 長什麼樣，以及為什麼那兩個「＋」是命脈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→ Attention → Norm → FFN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殘差：梯度的直達路徑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橫向、FFN 縱向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資料的形狀怎麼變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Block 的內部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順序是 Norm → Attention → Norm → FFN。不是 FFN 先。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731520" cy="777240"/>
          </a:xfrm>
          <a:prstGeom prst="roundRect">
            <a:avLst>
              <a:gd name="adj" fmla="val 75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2377440"/>
            <a:ext cx="6583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98448" y="2761488"/>
            <a:ext cx="301752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600200" y="23774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1636776" y="237744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2761488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23774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3191256" y="23774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橫向：位置之間交換資訊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2761488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486400" y="2532888"/>
            <a:ext cx="457200" cy="457200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864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0" y="2761488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263640" y="23774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300216" y="2377440"/>
            <a:ext cx="116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2761488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818120" y="23774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54696" y="23774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FFN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縱向：每個位置各自加工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29800" y="2761488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0149840" y="2532888"/>
            <a:ext cx="457200" cy="457200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101498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607040" y="2761488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927080" y="2377440"/>
            <a:ext cx="713232" cy="77724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10963656" y="23774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 flipV="1">
            <a:off x="932688" y="1901952"/>
            <a:ext cx="0" cy="475488"/>
          </a:xfrm>
          <a:prstGeom prst="line">
            <a:avLst/>
          </a:prstGeom>
          <a:noFill/>
          <a:ln w="1905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932688" y="1901952"/>
            <a:ext cx="4782312" cy="0"/>
          </a:xfrm>
          <a:prstGeom prst="line">
            <a:avLst/>
          </a:prstGeom>
          <a:noFill/>
          <a:ln w="1905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5715000" y="1901952"/>
            <a:ext cx="0" cy="630936"/>
          </a:xfrm>
          <a:prstGeom prst="line">
            <a:avLst/>
          </a:prstGeom>
          <a:noFill/>
          <a:ln w="1905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2377440" y="1591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殘差：直達路徑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715000" y="3154680"/>
            <a:ext cx="0" cy="502920"/>
          </a:xfrm>
          <a:prstGeom prst="line">
            <a:avLst/>
          </a:prstGeom>
          <a:noFill/>
          <a:ln w="1905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5715000" y="3657600"/>
            <a:ext cx="4663440" cy="0"/>
          </a:xfrm>
          <a:prstGeom prst="line">
            <a:avLst/>
          </a:prstGeom>
          <a:noFill/>
          <a:ln w="1905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 flipV="1">
            <a:off x="10378440" y="3154680"/>
            <a:ext cx="0" cy="502920"/>
          </a:xfrm>
          <a:prstGeom prst="line">
            <a:avLst/>
          </a:prstGeom>
          <a:noFill/>
          <a:ln w="1905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7223760" y="3694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殘差：直達路徑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169664"/>
            <a:ext cx="11057839" cy="896112"/>
          </a:xfrm>
          <a:prstGeom prst="roundRect">
            <a:avLst>
              <a:gd name="adj" fmla="val 714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694944" y="4169664"/>
            <a:ext cx="1080180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x + Attention( RMSNorm(x) )          y = h + FFN( RMSNorm(h) )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66928" y="5230368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 txBox="1"/>
          <p:nvPr/>
        </p:nvSpPr>
        <p:spPr>
          <a:xfrm>
            <a:off x="786384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橫向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786384" y="5614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唯一讓不同位置互通的地方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06824" y="5230368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4526280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縱向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4526280" y="5614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對每個位置各做各的，位置之間完全不互動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46720" y="5230368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8266176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形狀不變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8266176" y="5614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進去 (B,T,d)、出來 (B,T,d) —— 所以可以一直疊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那兩個「＋」為什麼是命脈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沒有殘差的話，20 層以上基本訓不動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94960" cy="713232"/>
          </a:xfrm>
          <a:prstGeom prst="roundRect">
            <a:avLst>
              <a:gd name="adj" fmla="val 89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481328"/>
            <a:ext cx="5138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前向：  y = x + f(x)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36208" y="1481328"/>
            <a:ext cx="5404104" cy="713232"/>
          </a:xfrm>
          <a:prstGeom prst="roundRect">
            <a:avLst>
              <a:gd name="adj" fmla="val 897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364224" y="1481328"/>
            <a:ext cx="5148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反向：  ∂L/∂x = ∂L/∂y + f′( ∂L/∂y 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77824" y="259689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關鍵在那個孤零零的 ∂L/∂y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7824" y="30175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017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上游梯度 ∂L/∂y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55264" y="3127248"/>
            <a:ext cx="1188720" cy="0"/>
          </a:xfrm>
          <a:prstGeom prst="line">
            <a:avLst/>
          </a:prstGeom>
          <a:noFill/>
          <a:ln w="2540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3127248" y="28529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直達，完全不衰減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55264" y="3364992"/>
            <a:ext cx="1188720" cy="384048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3035808" y="3785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穿過 f 的那條，會衰減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30175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4626864" y="30175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傳給下一層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296265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 f 那條路把梯度乘到剩 0.5 倍，直達路徑仍然原封不動地把 1 倍送下去。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疊 N 層之後，沒有殘差是 0.5ᴺ（指數衰減），有殘差是 1 + 一點修正。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37083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一個通則，整份程式碼裡反覆出現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" y="4754880"/>
            <a:ext cx="11057839" cy="1371600"/>
          </a:xfrm>
          <a:prstGeom prst="roundRect">
            <a:avLst>
              <a:gd name="adj" fmla="val 666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932688" y="4754880"/>
            <a:ext cx="103263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前向分岔  </a:t>
            </a:r>
            <a:r>
              <a:rPr lang="en-US" sz="2400" b="1" dirty="0">
                <a:solidFill>
                  <a:srgbClr val="E09B2D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⟹</a:t>
            </a:r>
            <a:r>
              <a:rPr lang="en-US" sz="24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反向相加</a:t>
            </a:r>
            <a:endParaRPr lang="en-US" sz="2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一個張量被用了 k 次，它的梯度就是那 k 條路的總和。殘差是 k = 2；SwiGLU 裡 x 同時餵給 gate 和 up，也是 k = 2；Attention 裡 x 餵給 Q、K、V 三路，k = 3。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資料的形狀怎麼變、參數住在哪裡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64、T = 128、d = 256、|V| = 6,400</a:t>
            </a:r>
            <a:endParaRPr lang="en-US" sz="13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(64, 128)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查表後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(64, 128, 256)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每個位置一個 256 維向量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 Block 之後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(64, 128, 256)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形狀不變，只是內容被加工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(64, 128, 6400)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每個位置對整個詞表的分數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一個純量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84848" y="1481328"/>
            <a:ext cx="4855464" cy="2304288"/>
          </a:xfrm>
          <a:prstGeom prst="roundRect">
            <a:avLst>
              <a:gd name="adj" fmla="val 3968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7059168" y="16459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是訓練時最大的中間張量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059168" y="210312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5.24 × 10⁷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059168" y="2670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個數字　（64 × 128 × 6,400）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059168" y="305409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記憶體大戶。而它的大小由詞表決定 —— 這就是為什麼「詞表大小是架構參數」。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0233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參數住在哪裡（本專案實際輸出）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6928" y="4407408"/>
            <a:ext cx="5669280" cy="1737360"/>
          </a:xfrm>
          <a:prstGeom prst="roundRect">
            <a:avLst>
              <a:gd name="adj" fmla="val 5263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841248" y="4517136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embedding                           1,638,400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block0 … block3         各    778,752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final_norm                                256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lm_head（與 embedding 共用）              0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─────────────────────────────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總計                                  4,753,664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10528" y="4407408"/>
            <a:ext cx="5129784" cy="1737360"/>
          </a:xfrm>
          <a:prstGeom prst="roundRect">
            <a:avLst>
              <a:gd name="adj" fmla="val 526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84848" y="4535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佔了 34.5%？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84848" y="4882896"/>
            <a:ext cx="45720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6912864" y="4882896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|V| · d      vs      O(d²)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5486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小模型的 |V| </a:t>
            </a:r>
            <a:r>
              <a:rPr lang="en-US" sz="1150" dirty="0">
                <a:solidFill>
                  <a:srgbClr val="1B2430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≫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d，所以 embedding 佔比很誇張。真實大模型的 d 大得多，佔比會降到 5% 以下。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三個零件拆開看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每一個都拆到「可以自己寫出來」的程度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—— 參數最少，影響最大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—— 唯一橫向交換資訊的地方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FFN —— 參數量佔三分之二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每一層都有實測數值可以驗算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RMSNorm：三個步驟，三個角色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每一層的入口都會先過它。參數量最少，但它決定了進入 Attention 和 FFN 的數值尺度。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82880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每個位置一個向量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38528" y="2148840"/>
            <a:ext cx="27432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212848" y="182880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2249424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平方後取平均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mean(x²)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67328" y="2148840"/>
            <a:ext cx="27432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041648" y="182880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4078224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開根號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√( · + ε 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96128" y="2148840"/>
            <a:ext cx="27432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870448" y="182880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5907024" y="18288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= x / r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長度被固定住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07808" y="2148840"/>
            <a:ext cx="27432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882128" y="1828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5F0E9"/>
          </a:solidFill>
          <a:ln w="12700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7918704" y="182880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F7A52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0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（可學）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53728" y="2148840"/>
            <a:ext cx="27432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9528048" y="18288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9564624" y="1828800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2743200"/>
            <a:ext cx="11057839" cy="731520"/>
          </a:xfrm>
          <a:prstGeom prst="roundRect">
            <a:avLst>
              <a:gd name="adj" fmla="val 875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694944" y="2743200"/>
            <a:ext cx="108018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√( (1/n) Σ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x_k² + ε )          x̂ = x / r          y = g </a:t>
            </a:r>
            <a:r>
              <a:rPr lang="en-US" sz="18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x̂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57600"/>
          <a:ext cx="603504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符號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是什麼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可學嗎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這一列數字的均方根（root-mean-square）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否，算出來的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x̂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正規化後的向量，長度被拉到約 √n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每個維度一個的縮放係數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是，初始值全為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ε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防止除以零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否，固定 10⁻⁵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784848" y="3657600"/>
            <a:ext cx="4855464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 txBox="1"/>
          <p:nvPr/>
        </p:nvSpPr>
        <p:spPr>
          <a:xfrm>
            <a:off x="7059168" y="37856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LayerNorm 差在哪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059168" y="411480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LayerNorm:  y = g </a:t>
            </a:r>
            <a:r>
              <a:rPr lang="en-US" sz="115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1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(x − μ)/√(σ²+ε) + b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RMSNorm:    y = g </a:t>
            </a:r>
            <a:r>
              <a:rPr lang="en-US" sz="115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1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x/√(mean(x²)+ε)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7059168" y="4791456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少了兩樣：① 不減平均數 μ　② 沒有偏置 b。少一次減法、少一組參數，實測效果幾乎一樣 —— 所以 LLaMA / Mistral / Qwen 現在幾乎都用它。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561441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沿最後一維（特徵維度）做，所以每個位置各自正規化，位置與位置之間互不影響。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實際上做了什麼：放大 50 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traces/sample/train_step_0001.txt 抓的第一層 norm1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 4 個維度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x（輸入）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+0.01647    −0.04764    +0.02504    +0.00472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0.019711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x̂（正規化後）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+0.83548    −2.41710    +1.27034    +0.23929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g（初始值）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+1.00000    +1.00000    +1.00000    +1.00000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y（輸出）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+0.83548    −2.41710    +1.27034    +0.23929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07808" y="1536192"/>
            <a:ext cx="4032504" cy="2194560"/>
          </a:xfrm>
          <a:prstGeom prst="roundRect">
            <a:avLst>
              <a:gd name="adj" fmla="val 416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7882128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放大倍率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199339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50.7 ×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r  =  1 / 0.019711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82128" y="29260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出來的向量很小（每個元素約 0.02），RMSNorm 把它們放大了 50 倍。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3913632"/>
            <a:ext cx="5669280" cy="1005840"/>
          </a:xfrm>
          <a:prstGeom prst="roundRect">
            <a:avLst>
              <a:gd name="adj" fmla="val 81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 txBox="1"/>
          <p:nvPr/>
        </p:nvSpPr>
        <p:spPr>
          <a:xfrm>
            <a:off x="841248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驗算第一個維度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x̂</a:t>
            </a:r>
            <a:r>
              <a:rPr lang="en-US" sz="14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0.01647 / 0.019711 = 0.83557  ≈  0.83548　← 對得上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10528" y="3913632"/>
            <a:ext cx="5129784" cy="1005840"/>
          </a:xfrm>
          <a:prstGeom prst="roundRect">
            <a:avLst>
              <a:gd name="adj" fmla="val 8182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84848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 bug，正是它的用途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把不同來源、不同尺度的向量，統一到同一個工作區間。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5084064"/>
            <a:ext cx="11057839" cy="1042416"/>
          </a:xfrm>
          <a:prstGeom prst="roundRect">
            <a:avLst>
              <a:gd name="adj" fmla="val 8772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 txBox="1"/>
          <p:nvPr/>
        </p:nvSpPr>
        <p:spPr>
          <a:xfrm>
            <a:off x="896112" y="5084064"/>
            <a:ext cx="1039947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副作用：反向的時候梯度也跟著放大。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前向除以 r，反向經過同一個除法時也會乘回來 —— 這就是為什麼梯度從第 1 層傳到 embedding 時會突然大一個數量級。稍後在反向傳播那一段會看到實測數字。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的結構：三條線，逐步匯流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整個模型裡唯一讓不同位置互看的地方 —— FFN 是每個位置各做各的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1389888" cy="1682496"/>
          </a:xfrm>
          <a:prstGeom prst="roundRect">
            <a:avLst>
              <a:gd name="adj" fmla="val 394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664208"/>
            <a:ext cx="13167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T, 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56816" y="1901952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176272" y="1664208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2212848" y="166420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q_proj　d → 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56816" y="2505456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176272" y="226771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2212848" y="22677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k_proj　d → 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56816" y="3108960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176272" y="2871216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2212848" y="2871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v_proj　d → 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1901952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566160" y="2505456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3566160" y="3108960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3785616" y="1664208"/>
            <a:ext cx="1389888" cy="1682496"/>
          </a:xfrm>
          <a:prstGeom prst="roundRect">
            <a:avLst>
              <a:gd name="adj" fmla="val 394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3822192" y="1664208"/>
            <a:ext cx="13167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拆成 h 個 head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h, T, d_head)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不是複製四份，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是把 256 維切成四段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75504" y="1901952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394960" y="1664208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5431536" y="166420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旋轉 Q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75504" y="2505456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5394960" y="226771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5431536" y="2267712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旋轉 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75504" y="3108960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5394960" y="2871216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5431536" y="287121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不旋轉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84848" y="1901952"/>
            <a:ext cx="219456" cy="0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784848" y="2505456"/>
            <a:ext cx="219456" cy="0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7004304" y="1664208"/>
            <a:ext cx="1389888" cy="1078992"/>
          </a:xfrm>
          <a:prstGeom prst="roundRect">
            <a:avLst>
              <a:gd name="adj" fmla="val 5085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7040880" y="1664208"/>
            <a:ext cx="1316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 / √d_head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因果遮罩 j &gt; i → −∞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softmax（每列和 = 1）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84848" y="3108960"/>
            <a:ext cx="1828800" cy="0"/>
          </a:xfrm>
          <a:prstGeom prst="line">
            <a:avLst/>
          </a:prstGeom>
          <a:noFill/>
          <a:ln w="1778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8394192" y="2203704"/>
            <a:ext cx="219456" cy="219456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8613648" y="2066544"/>
            <a:ext cx="1389888" cy="1152144"/>
          </a:xfrm>
          <a:prstGeom prst="roundRect">
            <a:avLst>
              <a:gd name="adj" fmla="val 4762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 txBox="1"/>
          <p:nvPr/>
        </p:nvSpPr>
        <p:spPr>
          <a:xfrm>
            <a:off x="8650224" y="2066544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= A · V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每個位置的輸出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＝它看得到的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位置的加權平均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003536" y="2642616"/>
            <a:ext cx="219456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0222992" y="2066544"/>
            <a:ext cx="1389888" cy="1152144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 txBox="1"/>
          <p:nvPr/>
        </p:nvSpPr>
        <p:spPr>
          <a:xfrm>
            <a:off x="10259568" y="2066544"/>
            <a:ext cx="1316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 h 個 head</a:t>
            </a:r>
            <a:endParaRPr lang="en-US" sz="10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o_proj　d → d</a:t>
            </a:r>
            <a:endParaRPr lang="en-US" sz="10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(B, T, d)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1389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車道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2176272" y="33832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車道　全程不碰位置資訊，最後才加入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3767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整件事其實只有兩個階段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6928" y="4151376"/>
            <a:ext cx="5340096" cy="1371600"/>
          </a:xfrm>
          <a:prstGeom prst="roundRect">
            <a:avLst>
              <a:gd name="adj" fmla="val 6667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822960" y="4279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階段一：算出「誰該注意誰」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" y="4590288"/>
            <a:ext cx="4828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和 K 決定一張 T×T 的權重表 A。位置 i 那一列，寫的是「我該從前面哪些位置拿東西、各拿多少」。因果遮罩保證只能往左看。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281928" y="4151376"/>
            <a:ext cx="5340096" cy="1371600"/>
          </a:xfrm>
          <a:prstGeom prst="roundRect">
            <a:avLst>
              <a:gd name="adj" fmla="val 6667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 txBox="1"/>
          <p:nvPr/>
        </p:nvSpPr>
        <p:spPr>
          <a:xfrm>
            <a:off x="6537960" y="4279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階段二：照這張表去拿內容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537960" y="4590288"/>
            <a:ext cx="4828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提供「內容」，A 提供「比例」。out = A · V 就是加權平均。這也是為什麼 V 不需要位置資訊 —— 位置只影響「誰該注意誰」，不影響「拿到什麼」。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66928" y="565099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 txBox="1"/>
          <p:nvPr/>
        </p:nvSpPr>
        <p:spPr>
          <a:xfrm>
            <a:off x="877824" y="5650992"/>
            <a:ext cx="104360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一句話：</a:t>
            </a:r>
            <a:r>
              <a:rPr lang="en-US" sz="12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是「先算一張誰看誰的表，再照這張表把內容加權平均起來」。前面那一大串投影、拆頭、旋轉，都只是為了把這張表算得準。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 x 走三條線，變成三個角色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 x 分岔成三路，反向時三份梯度要相加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204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04672" y="17373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80467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　查詢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「我在找什麼」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340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會被 RoPE 旋轉，帶上位置資訊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1517904"/>
            <a:ext cx="35204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44568" y="17373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445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　鍵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「我是什麼」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340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會被 RoPE 旋轉，帶上位置資訊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517904"/>
            <a:ext cx="35204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8284464" y="173736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A86F1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84464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924544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　值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2011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「我能提供什麼內容」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2340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 RoPE —— 內容不需要位置資訊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871216"/>
            <a:ext cx="11057839" cy="603504"/>
          </a:xfrm>
          <a:prstGeom prst="roundRect">
            <a:avLst>
              <a:gd name="adj" fmla="val 10606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" y="2871216"/>
            <a:ext cx="10801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  =  ∂L/∂x |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∂L/∂x |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∂L/∂x |</a:t>
            </a:r>
            <a:r>
              <a:rPr lang="en-US" sz="16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前向分岔 </a:t>
            </a:r>
            <a:r>
              <a:rPr lang="en-US" sz="16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⟹</a:t>
            </a: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反向相加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7124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多頭：不是複製四份，是把 256 維切成四段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" y="4169664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603504" y="4169664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256 維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的向量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4169664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3099816" y="416966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0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0…63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4489704"/>
            <a:ext cx="137160" cy="0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4754880" y="4169664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4791456" y="416966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64…127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4489704"/>
            <a:ext cx="137160" cy="0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446520" y="4169664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6483096" y="416966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128…191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4489704"/>
            <a:ext cx="137160" cy="0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8138160" y="4169664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8174736" y="4169664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 192…255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01000" y="4489704"/>
            <a:ext cx="137160" cy="0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2487168" y="4489704"/>
            <a:ext cx="438912" cy="0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9966960" y="4169664"/>
            <a:ext cx="1673352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10003536" y="41696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各自算各自的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" y="5047488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 txBox="1"/>
          <p:nvPr/>
        </p:nvSpPr>
        <p:spPr>
          <a:xfrm>
            <a:off x="896112" y="5047488"/>
            <a:ext cx="103994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參數量完全沒有增加。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但模型可以同時關注不同類型的關係 —— 例如一個 head 管語法、一個管指代。算完再接回 256 維，交給 o_proj 混合。沒有 o_proj 的話，各 head 算完就直接拼接，彼此之間永遠不會互動。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為什麼要除以 √d_head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不除的話，softmax 會飽和，梯度就消失了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517904"/>
            <a:ext cx="108018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QKᵀ / √d_head          S</a:t>
            </a:r>
            <a:r>
              <a:rPr lang="en-US" sz="19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Σ</a:t>
            </a:r>
            <a:r>
              <a:rPr lang="en-US" sz="19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</a:t>
            </a:r>
            <a:r>
              <a:rPr lang="en-US" sz="19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</a:t>
            </a: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</a:t>
            </a:r>
            <a:r>
              <a:rPr lang="en-US" sz="19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jk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603504" y="243230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Q、K 各維度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變異數約為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843784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807208" y="2432304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2843784" y="243230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點積 d_head 個維度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變異數變成 d_head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27448" y="2843784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047488" y="2432304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9E7E5"/>
          </a:solidFill>
          <a:ln w="12700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084064" y="243230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標準差 √d_head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d=64 → 分數散到 ±8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67728" y="2843784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287768" y="2432304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9E7E5"/>
          </a:solidFill>
          <a:ln w="12700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24344" y="243230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變得極度尖銳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幾乎變成 one-hot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08008" y="2843784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528048" y="2432304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B23A32"/>
          </a:solidFill>
          <a:ln w="12700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9564624" y="2432304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飽和區梯度趨近 0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梯度消失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529584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841248" y="3657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除以 √d_head 之後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3986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把變異數拉回 1，softmax 才處在有梯度的區間。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297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本專案：d_head = 64，scale = 1/√64 = 0.125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0528" y="3529584"/>
            <a:ext cx="5129784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784848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直覺版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39502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維度越多，點積的數字自然越大 —— 就像加總 64 個隨機數會比加總 4 個大。softmax 吃到很大的數字時會把幾乎全部機率押在一格上，等於「還沒學就已經很有自信」，而且再也學不動。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1389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反向：這裡沒有 cross-entropy 接在後面，不能用 p − y 的簡化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66928" y="5486400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694944" y="5486400"/>
            <a:ext cx="108018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∂L/∂S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A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∂L/∂A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Σ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∂L/∂A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</a:t>
            </a:r>
            <a:r>
              <a:rPr lang="en-US" sz="1700" b="1" baseline="-40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</a:t>
            </a: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因果遮罩：只能看已經看過的字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也是為什麼一次前向就能同時訓練 T 個位置的預測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遮罩矩陣（● 可以看，空白被擋住）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502920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877056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 txBox="1"/>
          <p:nvPr/>
        </p:nvSpPr>
        <p:spPr>
          <a:xfrm>
            <a:off x="694944" y="3877056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1400" b="1" baseline="-40000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← −∞   if  j &gt; i          exp(−∞) = 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5354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下三角。每個位置看到的都是「只到自己為止」的資訊，互不干擾 —— 所以 T 個位置可以一次算完。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053328" y="1463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實際跑出來的注意力矩陣（訓練第 1 步、第 0 個 head）</a:t>
            </a:r>
            <a:endParaRPr lang="en-US" sz="14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810512"/>
          <a:ext cx="5586984" cy="914400"/>
        </p:xfrm>
        <a:graphic>
          <a:graphicData uri="http://schemas.openxmlformats.org/drawingml/2006/table">
            <a:tbl>
              <a:tblPr/>
              <a:tblGrid>
                <a:gridCol w="60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j=4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0.43477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0.56523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0.35364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0.28259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0.36377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0.21434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0.32812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0.22678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0.23077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0.23005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0.15862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0.16002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0.20928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0.24203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053328" y="3877056"/>
            <a:ext cx="5586984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 txBox="1"/>
          <p:nvPr/>
        </p:nvSpPr>
        <p:spPr>
          <a:xfrm>
            <a:off x="6236208" y="3877056"/>
            <a:ext cx="310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877056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上三角全是空的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387705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因果遮罩生效了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53328" y="4645152"/>
            <a:ext cx="5586984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 txBox="1"/>
          <p:nvPr/>
        </p:nvSpPr>
        <p:spPr>
          <a:xfrm>
            <a:off x="6236208" y="4645152"/>
            <a:ext cx="310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64515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每列和都是 1.0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8321040" y="4645152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正確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53328" y="5413248"/>
            <a:ext cx="5586984" cy="676656"/>
          </a:xfrm>
          <a:prstGeom prst="roundRect">
            <a:avLst>
              <a:gd name="adj" fmla="val 1081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 txBox="1"/>
          <p:nvPr/>
        </p:nvSpPr>
        <p:spPr>
          <a:xfrm>
            <a:off x="6236208" y="5413248"/>
            <a:ext cx="3108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6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5413248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權重相當平均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8321040" y="5413248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因為這是訓練第 1 步，權重還是亂數，模型還不知道該注意誰。訓練久了會出現明顯的尖峰。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為什麼長 context 這麼貴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的成本是 O(T²)，而且訓練時 A 要存下來給反向用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517904"/>
            <a:ext cx="108018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</a:t>
            </a:r>
            <a:r>
              <a:rPr lang="en-US" sz="19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∈</a:t>
            </a: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ℝ</a:t>
            </a:r>
            <a:r>
              <a:rPr lang="en-US" sz="1900" b="1" baseline="3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× h × T × T</a:t>
            </a: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64 × 4 × 128 × 128  =  4.19 × 10⁶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505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序列長度加倍，這個張量會變成四倍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3364992"/>
            <a:ext cx="2615184" cy="859536"/>
          </a:xfrm>
          <a:prstGeom prst="roundRect">
            <a:avLst>
              <a:gd name="adj" fmla="val 7447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66928" y="3364992"/>
            <a:ext cx="2615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4.19 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793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128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92424" y="3103474"/>
            <a:ext cx="2615184" cy="1121054"/>
          </a:xfrm>
          <a:prstGeom prst="roundRect">
            <a:avLst>
              <a:gd name="adj" fmla="val 5710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3392424" y="3103474"/>
            <a:ext cx="2615184" cy="1121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 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392424" y="42793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256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723083"/>
            <a:ext cx="2615184" cy="1501445"/>
          </a:xfrm>
          <a:prstGeom prst="roundRect">
            <a:avLst>
              <a:gd name="adj" fmla="val 4263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17920" y="2723083"/>
            <a:ext cx="2615184" cy="1501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67.1 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42793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512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43416" y="2223821"/>
            <a:ext cx="2615184" cy="2000707"/>
          </a:xfrm>
          <a:prstGeom prst="roundRect">
            <a:avLst>
              <a:gd name="adj" fmla="val 3199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9043416" y="2223821"/>
            <a:ext cx="2615184" cy="200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268 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043416" y="42793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1024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791456"/>
            <a:ext cx="5669280" cy="1353312"/>
          </a:xfrm>
          <a:prstGeom prst="roundRect">
            <a:avLst>
              <a:gd name="adj" fmla="val 675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841248" y="49194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 FlashAttention 要解決的問題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2303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它的作法是分塊計算、不把完整的 S 物化出來 —— 數學上完全等價，省的是記憶體搬運。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0528" y="4791456"/>
            <a:ext cx="5129784" cy="1353312"/>
          </a:xfrm>
          <a:prstGeom prst="roundRect">
            <a:avLst>
              <a:gd name="adj" fmla="val 6757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784848" y="4919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呼應前面的 tokenizer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5230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讓序列短 29.4%。因為 attention 是 O(n²)，實際省下的計算量遠不只 29.4% —— 這就是「詞表大小是架構參數」的另一個面向。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FFN（SwiGLU）的結構：一個閘門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橫向交換資訊，FFN 縱向加工 —— 它對第 7 個位置做的事，跟第 13 個位置完全獨立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96012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256032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27048" y="2843784"/>
            <a:ext cx="256032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783080" y="2157984"/>
            <a:ext cx="0" cy="68580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783080" y="2843784"/>
            <a:ext cx="0" cy="68580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783080" y="2157984"/>
            <a:ext cx="228600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783080" y="3529584"/>
            <a:ext cx="228600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011680" y="18745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2048256" y="187452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gate_proj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672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157984"/>
            <a:ext cx="228600" cy="0"/>
          </a:xfrm>
          <a:prstGeom prst="line">
            <a:avLst/>
          </a:prstGeom>
          <a:noFill/>
          <a:ln w="1651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703320" y="18745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3739896" y="187452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g · σ(g)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66360" y="2157984"/>
            <a:ext cx="228600" cy="0"/>
          </a:xfrm>
          <a:prstGeom prst="line">
            <a:avLst/>
          </a:prstGeom>
          <a:noFill/>
          <a:ln w="1651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5394960" y="18745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E09B2D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5431536" y="18745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246120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2048256" y="324612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up_proj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672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0" y="3529584"/>
            <a:ext cx="1920240" cy="0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394960" y="32461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5431536" y="32461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2560320"/>
            <a:ext cx="548640" cy="566928"/>
          </a:xfrm>
          <a:prstGeom prst="ellipse">
            <a:avLst/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720840" y="25603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446520" y="2157984"/>
            <a:ext cx="548640" cy="0"/>
          </a:xfrm>
          <a:prstGeom prst="line">
            <a:avLst/>
          </a:prstGeom>
          <a:noFill/>
          <a:ln w="1651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995160" y="2157984"/>
            <a:ext cx="0" cy="402336"/>
          </a:xfrm>
          <a:prstGeom prst="line">
            <a:avLst/>
          </a:prstGeom>
          <a:noFill/>
          <a:ln w="1651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446520" y="3529584"/>
            <a:ext cx="548640" cy="0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 flipV="1">
            <a:off x="6995160" y="3127248"/>
            <a:ext cx="0" cy="402336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7269480" y="2843784"/>
            <a:ext cx="274320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7543800" y="25603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7580376" y="25603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s </a:t>
            </a:r>
            <a:r>
              <a:rPr lang="en-US" sz="1050" b="1" dirty="0">
                <a:solidFill>
                  <a:srgbClr val="1B2430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維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15400" y="2843784"/>
            <a:ext cx="228600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9144000" y="2560320"/>
            <a:ext cx="15087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9180576" y="2560320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down_proj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→ 256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652760" y="2843784"/>
            <a:ext cx="274320" cy="0"/>
          </a:xfrm>
          <a:prstGeom prst="line">
            <a:avLst/>
          </a:prstGeom>
          <a:noFill/>
          <a:ln w="1651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0927080" y="2560320"/>
            <a:ext cx="713232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 txBox="1"/>
          <p:nvPr/>
        </p:nvSpPr>
        <p:spPr>
          <a:xfrm>
            <a:off x="10963656" y="2560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維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011680" y="3950208"/>
            <a:ext cx="6903720" cy="0"/>
          </a:xfrm>
          <a:prstGeom prst="line">
            <a:avLst/>
          </a:prstGeom>
          <a:noFill/>
          <a:ln w="12700">
            <a:solidFill>
              <a:srgbClr val="A86F14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2011680" y="3858768"/>
            <a:ext cx="0" cy="91440"/>
          </a:xfrm>
          <a:prstGeom prst="line">
            <a:avLst/>
          </a:prstGeom>
          <a:noFill/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8915400" y="3858768"/>
            <a:ext cx="0" cy="91440"/>
          </a:xfrm>
          <a:prstGeom prst="line">
            <a:avLst/>
          </a:prstGeom>
          <a:noFill/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 txBox="1"/>
          <p:nvPr/>
        </p:nvSpPr>
        <p:spPr>
          <a:xfrm>
            <a:off x="2011680" y="4005072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這一整段都在 672 維工作（升維 2.6 倍），最後才由 down_proj 壓回 256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4370832"/>
            <a:ext cx="11057839" cy="658368"/>
          </a:xfrm>
          <a:prstGeom prst="roundRect">
            <a:avLst>
              <a:gd name="adj" fmla="val 9722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 txBox="1"/>
          <p:nvPr/>
        </p:nvSpPr>
        <p:spPr>
          <a:xfrm>
            <a:off x="694944" y="4370832"/>
            <a:ext cx="108018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=  ( SiLU( x W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ᵀ )  </a:t>
            </a:r>
            <a:r>
              <a:rPr lang="en-US" sz="18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x W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ᵀ )  W</a:t>
            </a:r>
            <a:r>
              <a:rPr lang="en-US" sz="18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</a:t>
            </a: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ᵀ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66928" y="5175504"/>
            <a:ext cx="5340096" cy="987552"/>
          </a:xfrm>
          <a:prstGeom prst="roundRect">
            <a:avLst>
              <a:gd name="adj" fmla="val 9259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 txBox="1"/>
          <p:nvPr/>
        </p:nvSpPr>
        <p:spPr>
          <a:xfrm>
            <a:off x="822960" y="526694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閘門在做什麼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522976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和 u 是逐元素相乘 —— s 的第 3 維只乘 u 的第 3 維。所以 s 等於 672 個獨立的閥門，各自決定 u 那一維要放行多少。追蹤檔裡第 3 維的 u 乘上 s 之後只剩 −0.0069，幾乎被關掉。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81928" y="5175504"/>
            <a:ext cx="5340096" cy="987552"/>
          </a:xfrm>
          <a:prstGeom prst="roundRect">
            <a:avLst>
              <a:gd name="adj" fmla="val 9259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 txBox="1"/>
          <p:nvPr/>
        </p:nvSpPr>
        <p:spPr>
          <a:xfrm>
            <a:off x="6537960" y="526694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為什麼要兩路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5522976"/>
            <a:ext cx="4828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 Transformer（2017）只有一路：ReLU(xW₁)W₂。SwiGLU 多出來的 up 那一路提供「內容」，gate 那一路提供「要不要放行」。多一個矩陣，所以 d_ff 取 8/3·d 而不是傳統的 4d，維持總參數量相當。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為什麼先升維再降回來 —— 以及它為什麼這麼肥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一層裡三分之二的參數都在 FFN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62763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256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2011680"/>
            <a:ext cx="457200" cy="0"/>
          </a:xfrm>
          <a:prstGeom prst="line">
            <a:avLst/>
          </a:prstGeom>
          <a:noFill/>
          <a:ln w="2032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627632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3282696" y="162763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d_ff = 672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放大 2.6 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2011680"/>
            <a:ext cx="457200" cy="0"/>
          </a:xfrm>
          <a:prstGeom prst="line">
            <a:avLst/>
          </a:prstGeom>
          <a:noFill/>
          <a:ln w="2032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355080" y="1627632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391656" y="162763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非線性加工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49640" y="2011680"/>
            <a:ext cx="457200" cy="0"/>
          </a:xfrm>
          <a:prstGeom prst="line">
            <a:avLst/>
          </a:prstGeom>
          <a:noFill/>
          <a:ln w="20320">
            <a:solidFill>
              <a:srgbClr val="A86F1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006840" y="1627632"/>
            <a:ext cx="2633472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9043416" y="16276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256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降回原本維度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5420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在高維空間裡，資料更容易被非線性「切開」。先升維、加工、再壓回來 —— 這是 FFN 的標準套路。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017520"/>
            <a:ext cx="5669280" cy="1517904"/>
          </a:xfrm>
          <a:prstGeom prst="roundRect">
            <a:avLst>
              <a:gd name="adj" fmla="val 602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841248" y="31455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的參數量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4747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d × d_ff  =  3 × 256 × 672  =  516,096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三個矩陣：gate、up、down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10528" y="3017520"/>
            <a:ext cx="5129784" cy="1517904"/>
          </a:xfrm>
          <a:prstGeom prst="roundRect">
            <a:avLst>
              <a:gd name="adj" fmla="val 6024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6784848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的參數量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347472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d²  =  4 × 256²  =  262,144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四個矩陣：q、k、v、o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75488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896112" y="4754880"/>
            <a:ext cx="10399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大約是 Attention 的兩倍。</a:t>
            </a:r>
            <a:r>
              <a:rPr lang="en-US" sz="140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大家都在談 attention，但參數其實大多住在 FFN 裡。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66928" y="5705856"/>
            <a:ext cx="11057839" cy="603504"/>
          </a:xfrm>
          <a:prstGeom prst="roundRect">
            <a:avLst>
              <a:gd name="adj" fmla="val 12121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877824" y="5705856"/>
            <a:ext cx="104360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記憶體：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反向需要 g、s、u，所以前向時全都要存下來，形狀都是 (B,T,d_ff)。bf16 下一層約 33 MB，四層 132 MB —— 這就是「訓練比推論吃記憶體」的主因之一。推論不用存這些，算完就丟。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閘門在做什麼：用真實數值看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traces/sample/train_step_0001.txt 抓的第一層 FFN，前 4 個維度</a:t>
            </a:r>
            <a:endParaRPr lang="en-US" sz="13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72237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g（gate）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SiLU(g)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u（up）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s 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 Math" pitchFamily="34" charset="0"/>
                          <a:ea typeface="Calibri" pitchFamily="34" charset="-122"/>
                          <a:cs typeface="Cambria Math" pitchFamily="34" charset="-120"/>
                        </a:rPr>
                        <a:t>⊙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−1.00882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−0.26957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−0.59599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+0.16066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−0.32442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−0.13613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+0.28378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−0.03863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+0.33926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+0.19813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−0.03482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−0.00690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−1.21415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−0.27800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−0.69361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+0.19282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73568" y="1536192"/>
            <a:ext cx="3666744" cy="2194560"/>
          </a:xfrm>
          <a:prstGeom prst="roundRect">
            <a:avLst>
              <a:gd name="adj" fmla="val 4167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8229600" y="16824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看第 3 個維度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01168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u₃ = −0.03482 本身就很小，乘上 s₃ = 0.198 之後變成 −0.0069 —— 幾乎被關掉了。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 gating：即使 u 那一路算出了東西，s 可以決定讓它過多少。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驗算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4261104"/>
            <a:ext cx="5669280" cy="9144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 txBox="1"/>
          <p:nvPr/>
        </p:nvSpPr>
        <p:spPr>
          <a:xfrm>
            <a:off x="694944" y="4261104"/>
            <a:ext cx="5413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SiLU(−1.00882) = −1.00882 × σ(−1.00882)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−1.00882 × 0.2672 = −0.2696　← 對得上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10528" y="4261104"/>
            <a:ext cx="5129784" cy="91440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 txBox="1"/>
          <p:nvPr/>
        </p:nvSpPr>
        <p:spPr>
          <a:xfrm>
            <a:off x="6638544" y="4261104"/>
            <a:ext cx="4873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s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u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(−0.26957) × (−0.59599) = +0.16066　← 對得上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5358384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877824" y="5358384"/>
            <a:ext cx="104360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 對比 ReLU：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負數區不是直接砍成 0，而是留下一點負值（最小約 −0.278），所以沒有 ReLU 的「死神經元」問題；而且處處可微，沒有 z=0 的折點。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反向傳播全鏈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p − y 一路走回 E。中間每一層都不知道任務是什麼。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整條鏈只有一格知道「對錯」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= p − y 為什麼這麼簡潔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每一層都在做同一件翻譯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反向傳播不會修改任何權重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整條鏈只有一個地方知道「對錯」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往下每一層都只是在做微分 —— 不知道任務是什麼，也不知道「貓是動物」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F9E7E5"/>
          </a:solidFill>
          <a:ln w="12700">
            <a:solidFill>
              <a:srgbClr val="B23A3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157276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知道正確答案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87168" y="1993392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216712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 = p − 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7208" y="1572768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2843784" y="157276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7448" y="1993392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0740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1572768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084064" y="157276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RMSNorm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67728" y="1993392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664768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87768" y="1572768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24344" y="157276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 … Block 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08008" y="1993392"/>
            <a:ext cx="32004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887968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 = 修正單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28048" y="1572768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E1ED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9564624" y="1572768"/>
            <a:ext cx="18470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scatter-add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2852928"/>
            <a:ext cx="11057839" cy="1133856"/>
          </a:xfrm>
          <a:prstGeom prst="roundRect">
            <a:avLst>
              <a:gd name="adj" fmla="val 8065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932688" y="2852928"/>
            <a:ext cx="10326319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只有最上面那一格含有「答案」的資訊。</a:t>
            </a:r>
            <a:endParaRPr lang="en-US" sz="19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從那裡往下，每一層做的事情一模一樣：把「我的輸出該怎麼動」翻譯成「那我的輸入該怎麼動」。翻譯的方法就是用自己的導數。它不需要知道任務是什麼。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206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一直往上追，源頭只有一個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" y="4590288"/>
            <a:ext cx="5669280" cy="1536192"/>
          </a:xfrm>
          <a:prstGeom prst="roundRect">
            <a:avLst>
              <a:gd name="adj" fmla="val 595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841248" y="4700016"/>
            <a:ext cx="5120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 = p − y            ← 唯一的源頭，只有這裡有「對錯」的資訊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 lm_head.backward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 final_norm.backward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 block3 … block0        每一步都只是「翻譯」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送到 embedding 的修正單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10528" y="4590288"/>
            <a:ext cx="5129784" cy="1536192"/>
          </a:xfrm>
          <a:prstGeom prst="roundRect">
            <a:avLst>
              <a:gd name="adj" fmla="val 5952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6784848" y="47183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追到最頂端就沒有「上一層」了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84848" y="5065776"/>
            <a:ext cx="45720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6912864" y="5065776"/>
            <a:ext cx="4315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∂L/∂z  =  p − y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56327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這裡不是從別人那裡拿來的，是算出來的 —— p 是模型的預測，y 是正確答案。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第一棒：∂L/∂z = p − 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和 cross-entropy 分開推都很醜，但合起來推會神奇地簡化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669280" cy="1920240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6093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的 Jacobian（會出現 |V| × |V| 的矩陣）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1901952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969264" y="1901952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∂p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/∂z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p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δ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r>
              <a:rPr lang="en-US" sz="15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32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接上 cross-entropy（L = −log pᵧ）之後：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2724912"/>
            <a:ext cx="51206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969264" y="2724912"/>
            <a:ext cx="4864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−(1/p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· p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δ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yj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 = p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δ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yj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10528" y="1481328"/>
            <a:ext cx="5129784" cy="1920240"/>
          </a:xfrm>
          <a:prstGeom prst="roundRect">
            <a:avLst>
              <a:gd name="adj" fmla="val 4762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84848" y="1645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 Jacobian 消失，只剩：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84848" y="201168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912864" y="2011680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∂L/∂z  =  p − y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779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翻成白話：正解那一格的分數要拉高，其他全部壓低。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6027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追蹤檔裡看到的（train_step_0001.txt 第 493 行）</a:t>
            </a:r>
            <a:endParaRPr lang="en-US" sz="1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68496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 = (p−y)/N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+0.00048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+5.920e−08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壓下去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+0.00046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+5.575e−08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壓下去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+0.00026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3F7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−0.00012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拉上來（正解）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66928" y="5504688"/>
            <a:ext cx="11057839" cy="676656"/>
          </a:xfrm>
          <a:prstGeom prst="roundRect">
            <a:avLst>
              <a:gd name="adj" fmla="val 10811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 txBox="1"/>
          <p:nvPr/>
        </p:nvSpPr>
        <p:spPr>
          <a:xfrm>
            <a:off x="877824" y="5504688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正解那格 y = 1，所以 dz 是負的。</a:t>
            </a:r>
            <a:r>
              <a:rPr lang="en-US" sz="130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更新時 E ← E − η·dz，負負得正，分數被推高。其他格全是正的，分數被壓低。這一行就是整個訓練的全部監督訊號。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中間每一棒都在做同一件事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「我的輸出該怎麼動」→「那我的輸入該怎麼動」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1664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011680"/>
            <a:ext cx="3063240" cy="402336"/>
          </a:xfrm>
          <a:prstGeom prst="roundRect">
            <a:avLst>
              <a:gd name="adj" fmla="val 159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932688" y="2011680"/>
            <a:ext cx="2807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x Wᵀ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52374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 = ∂L/∂y W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 = (∂L/∂y)ᵀ 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點積對其中一邊微分，得到的就是另一邊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6824" y="1517904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44568" y="1664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逐元素非線性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44568" y="2011680"/>
            <a:ext cx="3063240" cy="402336"/>
          </a:xfrm>
          <a:prstGeom prst="roundRect">
            <a:avLst>
              <a:gd name="adj" fmla="val 159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672584" y="2011680"/>
            <a:ext cx="2807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f(a)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52374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∂L/∂a = ∂L/∂z </a:t>
            </a:r>
            <a:r>
              <a:rPr lang="en-US" sz="12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⊙</a:t>
            </a: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f′(a)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不用加總，直接乘上導數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517904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8284464" y="16642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殘差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84464" y="2011680"/>
            <a:ext cx="3063240" cy="402336"/>
          </a:xfrm>
          <a:prstGeom prst="roundRect">
            <a:avLst>
              <a:gd name="adj" fmla="val 1590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2480" y="2011680"/>
            <a:ext cx="2807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x + f(x)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252374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 = ∂L/∂y + f′(∂L/∂y)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那個孤零零的 ∂L/∂y 就是直達路徑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41248" y="4151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 的導數（用 σ′ = σ(1−σ) 推）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" y="4443984"/>
            <a:ext cx="51206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969264" y="444398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SiLU′(z) = σ(z) ( 1 + z ( 1 − σ(z) ) 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10528" y="4041648"/>
            <a:ext cx="5129784" cy="1170432"/>
          </a:xfrm>
          <a:prstGeom prst="roundRect">
            <a:avLst>
              <a:gd name="adj" fmla="val 781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6784848" y="4151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忘記公式的時候：用形狀反推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44805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∂L/∂x 要是 (1,3)  →  dy(1,2) @ W(2,3)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∂L/∂W 要是 (2,3)  →  dyᵀ(2,1) @ x(1,3)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5431536"/>
            <a:ext cx="11057839" cy="731520"/>
          </a:xfrm>
          <a:prstGeom prst="roundRect">
            <a:avLst>
              <a:gd name="adj" fmla="val 11250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 txBox="1"/>
          <p:nvPr/>
        </p:nvSpPr>
        <p:spPr>
          <a:xfrm>
            <a:off x="896112" y="54315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梯度的形狀永遠跟被微分的東西一樣。</a:t>
            </a:r>
            <a:r>
              <a:rPr lang="en-US" sz="13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把形狀寫出來，答案通常只有一種排法 —— 這是實務上最好用的記憶法。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「接力」的實際樣子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每一層的 dx 就是下一層的 dy —— 數字完全相同</a:t>
            </a:r>
            <a:endParaRPr lang="en-US" sz="13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36192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‖dy‖（上游進來）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‖dx‖（往下傳出去）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0.006687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0.007068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0.007068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0.007881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0.007881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0.012044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0.012044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B23A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0.297985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35295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粗體的數字上下對得起來 —— 這就是「接力」，不是比喻，是同一個張量。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84848" y="1536192"/>
            <a:ext cx="4855464" cy="2286000"/>
          </a:xfrm>
          <a:prstGeom prst="roundRect">
            <a:avLst>
              <a:gd name="adj" fmla="val 4000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 txBox="1"/>
          <p:nvPr/>
        </p:nvSpPr>
        <p:spPr>
          <a:xfrm>
            <a:off x="7059168" y="16824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最後那個大跳躍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059168" y="2011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 → 0.298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59168" y="25237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25 倍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059168" y="2834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原因是 RMSNorm。embedding 向量的 rms 約 0.02，前向除以它等於放大約 50 倍；反向經過同一個除法時，梯度也跟著放大。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05993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877824" y="4059936"/>
            <a:ext cx="104360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為什麼實測倍率（25×）比 1/r（50×）小？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因為 RMSNorm 的反向除了除以 r，還會把梯度中「沿著 x̂ 方向」的分量扣掉 —— x̂ 的長度已經被固定住，往它自己的方向推是無效的。那一項抵消掉了大約一半。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4992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最後一棒：embedding 只做路由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28" y="5358384"/>
            <a:ext cx="11057839" cy="804672"/>
          </a:xfrm>
          <a:prstGeom prst="roundRect">
            <a:avLst>
              <a:gd name="adj" fmla="val 10227"/>
            </a:avLst>
          </a:prstGeom>
          <a:solidFill>
            <a:srgbClr val="E1ED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877824" y="5358384"/>
            <a:ext cx="104360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 gather  </a:t>
            </a:r>
            <a:r>
              <a:rPr lang="en-US" sz="1500" b="1" dirty="0">
                <a:solidFill>
                  <a:srgbClr val="1C7293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⟺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反向 scatter-add。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embedding 的前向是「原封不動抄出來」，導數是 1，所以反向也是「原封不動接回去」—— 它不對梯度做任何變換，只負責送回正確的列。這個對稱不是設計出來的，是導數為 1 的必然結果。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誤解 ②「反向傳播會修改權重」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錯。backward() 跑完，權重一個數字都沒變。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1188720"/>
          </a:xfrm>
          <a:prstGeom prst="roundRect">
            <a:avLst>
              <a:gd name="adj" fmla="val 7692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1517904"/>
            <a:ext cx="103263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model.backward(dlogits)      # 只算出「該往哪修」，存進另一個張量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opt.step()                   # 這一行才真的改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78240" y="2139696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8778240" y="21396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兩件事之間隔著一整張梯度表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9260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而且方向是相反的，步伐小得多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918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更新前 E[...]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−0.01533508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梯度 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+0.24444881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若直接「加上梯度」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+0.22911373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錯誤的直覺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實際結果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−0.01583501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F7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差了 489 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99248" y="3291840"/>
            <a:ext cx="3941064" cy="2304288"/>
          </a:xfrm>
          <a:prstGeom prst="roundRect">
            <a:avLst>
              <a:gd name="adj" fmla="val 396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 txBox="1"/>
          <p:nvPr/>
        </p:nvSpPr>
        <p:spPr>
          <a:xfrm>
            <a:off x="7973568" y="3438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兩層都要注意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3785616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梯度是先彼此相加存進梯度表，不是加到 E 上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 真的要改的時候是「減」，而且要乘上很小的 lr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5742432"/>
            <a:ext cx="11057839" cy="457200"/>
          </a:xfrm>
          <a:prstGeom prst="roundRect">
            <a:avLst>
              <a:gd name="adj" fmla="val 14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877824" y="5742432"/>
            <a:ext cx="104360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怎麼當場證明：追蹤檔第 04 節的最後，E 還是原值；到第 06 節 AdamW 那裡才變。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權重是怎麼被改的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反向算完之後，才輪到 optimizer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SGD：為什麼是「減」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的五行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一個反直覺的性質：位移量與梯度大小無關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梯度裁剪與 learning rate schedule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最直覺的版本：SGD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「減掉梯度乘上學習率」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517904"/>
            <a:ext cx="108018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←  θ  −  η · g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883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為什麼是「減」？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3072384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41248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梯度的定義是「往哪個方向動，L 會變大」：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493008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969264" y="3493008"/>
            <a:ext cx="4864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 =  ∂L/∂θ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0416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我們要 L 變小，所以走反方向。這就是梯度「下降」的下降。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10528" y="3072384"/>
            <a:ext cx="5129784" cy="1371600"/>
          </a:xfrm>
          <a:prstGeom prst="roundRect">
            <a:avLst>
              <a:gd name="adj" fmla="val 6667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84848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注意：← 不是 =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351129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這是「更新」：用右邊算出來的值取代左邊。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寫成 θ = θ − ηg 在數學上是個無解的方程式（除非 ηg = 0）。這是讀論文時很容易忽略的一個符號。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663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 AdamW 只是把那個 g 換掉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5065776"/>
            <a:ext cx="11057839" cy="1060704"/>
          </a:xfrm>
          <a:prstGeom prst="roundRect">
            <a:avLst>
              <a:gd name="adj" fmla="val 603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" y="5065776"/>
            <a:ext cx="1080180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SGD:      θ ← θ − η · g</a:t>
            </a:r>
            <a:endParaRPr lang="en-US" sz="20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AdamW:  θ ← θ − η · m̂ / ( √v̂ + ε )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的五行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SGD 的差別只在最後一行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7772400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517904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5179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← θ − η λ 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151790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 decay（與梯度無關）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176272"/>
            <a:ext cx="7772400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2176272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← β₁ m + (1−β₁) 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176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一階動量：梯度的移動平均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834640"/>
            <a:ext cx="7772400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49808" y="2834640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2834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← β₂ v + (1−β₂) g²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8346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二階動量：梯度平方的移動平均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93008"/>
            <a:ext cx="7772400" cy="566928"/>
          </a:xfrm>
          <a:prstGeom prst="roundRect">
            <a:avLst>
              <a:gd name="adj" fmla="val 1129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749808" y="3493008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34930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m̂ ← m/(1−β₁ᵗ)　v̂ ← v/(1−β₂ᵗ)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81728" y="349300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151376"/>
            <a:ext cx="7772400" cy="566928"/>
          </a:xfrm>
          <a:prstGeom prst="roundRect">
            <a:avLst>
              <a:gd name="adj" fmla="val 1129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749808" y="4151376"/>
            <a:ext cx="402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4151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← θ − η · m̂ / ( √v̂ + ε 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81728" y="41513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真正的更新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13648" y="1517904"/>
            <a:ext cx="3026664" cy="1225296"/>
          </a:xfrm>
          <a:prstGeom prst="roundRect">
            <a:avLst>
              <a:gd name="adj" fmla="val 7463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886968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的由來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193852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舊的 Adam 把 λθ 加進梯度裡，於是 weight decay 也被 √v̂ 正規化。AdamW 把它拆出來獨立做，強度固定是 ηλ。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13648" y="2834640"/>
            <a:ext cx="3026664" cy="1225296"/>
          </a:xfrm>
          <a:prstGeom prst="roundRect">
            <a:avLst>
              <a:gd name="adj" fmla="val 746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8869680" y="2962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correction 在做什麼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25526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m、v 都從 0 出發，前幾步會系統性偏小。除以 1−β₁ᵗ 剛好把偏差補回來（t 大了之後趨近 1，就沒作用了）。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13648" y="4151376"/>
            <a:ext cx="3026664" cy="1225296"/>
          </a:xfrm>
          <a:prstGeom prst="roundRect">
            <a:avLst>
              <a:gd name="adj" fmla="val 7463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8869680" y="4279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一個實務上的坑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torch.optim.AdamW 預設 λ=0.01，而且會套用到所有參數，包括 embedding 和 norm 的 gain。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4956048"/>
            <a:ext cx="7772400" cy="1207008"/>
          </a:xfrm>
          <a:prstGeom prst="roundRect">
            <a:avLst>
              <a:gd name="adj" fmla="val 7576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 txBox="1"/>
          <p:nvPr/>
        </p:nvSpPr>
        <p:spPr>
          <a:xfrm>
            <a:off x="859536" y="508406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9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AdamW(model.params(), lr=..., no_decay=('.g', '.E'))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59536" y="543153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生產級訓練通常把 embedding 和 norm 排除 —— 因為很少拿到梯度的列會被 weight decay 慢慢磨向 0。這份程式預設就排除了。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關鍵性質：位移量幾乎與梯度大小無關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分子是梯度的平均，分母是梯度大小的平均 —— 量級相同，相除之後大約落在 ±1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481328"/>
            <a:ext cx="1080180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Δθ |  ≈  η          第一步時這件事是精確成立的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5669280" cy="1316736"/>
          </a:xfrm>
          <a:prstGeom prst="roundRect">
            <a:avLst>
              <a:gd name="adj" fmla="val 694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841248" y="25420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代入 m₀ = v₀ = 0：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816352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969264" y="2816352"/>
            <a:ext cx="4864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m̂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g ,   v̂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g²</a:t>
            </a:r>
            <a:endParaRPr lang="en-US" sz="13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m̂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/√v̂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g/|g| = sign(g)   </a:t>
            </a:r>
            <a:r>
              <a:rPr lang="en-US" sz="1300" b="1" dirty="0">
                <a:solidFill>
                  <a:srgbClr val="1B2430"/>
                </a:solidFill>
                <a:latin typeface="Cambria Math" pitchFamily="34" charset="0"/>
                <a:ea typeface="Cambria" pitchFamily="34" charset="-122"/>
                <a:cs typeface="Cambria Math" pitchFamily="34" charset="-120"/>
              </a:rPr>
              <a:t>⟹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Δθ = ± 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10528" y="2432304"/>
            <a:ext cx="5129784" cy="1316736"/>
          </a:xfrm>
          <a:prstGeom prst="roundRect">
            <a:avLst>
              <a:gd name="adj" fmla="val 694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84848" y="2542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白話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283464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幾乎不看梯度「有多大」，只看它「往哪邊」。所有參數走一樣遠，差別只在方向。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136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追蹤檔裡可以直接驗證（η = 5×10⁻⁴）</a:t>
            </a:r>
            <a:endParaRPr lang="en-US" sz="15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79392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維度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梯度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+0.244449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−0.286912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−0.239161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+0.236112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m̂ / (√v̂ + 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+1.000000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位移 Δθ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−0.000500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+0.000500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+0.000500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−0.000500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5577840"/>
            <a:ext cx="11057839" cy="603504"/>
          </a:xfrm>
          <a:prstGeom prst="roundRect">
            <a:avLst>
              <a:gd name="adj" fmla="val 12121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877824" y="5577840"/>
            <a:ext cx="104360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四個維度的梯度大小不同（0.236 ~ 0.287），位移卻一模一樣。</a:t>
            </a:r>
            <a:r>
              <a:rPr lang="en-US" sz="120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推論：跑 T 步之後，任何參數的總位移上限約是 T · η̄。實測 3000 × 2.75×10⁻⁴ ≈ 0.825，而平均位移落在 0.63 ~ 0.86 —— 正好卡在上限。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兩道護欄：梯度裁剪與 learning rate schedule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防止偶爾出現的異常大梯度一步把模型炸掉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664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梯度裁剪　opt.clip_grad_norm(1.0)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1248" y="2011680"/>
            <a:ext cx="5120640" cy="859536"/>
          </a:xfrm>
          <a:prstGeom prst="roundRect">
            <a:avLst>
              <a:gd name="adj" fmla="val 744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969264" y="2011680"/>
            <a:ext cx="4864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√( Σ</a:t>
            </a:r>
            <a:r>
              <a:rPr lang="en-US" sz="1300" b="1" baseline="-40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所有參數</a:t>
            </a: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‖g‖² )</a:t>
            </a:r>
            <a:endParaRPr lang="en-US" sz="13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若 G &gt; G_max :   g ← g · G_max / (G + 10⁻⁶)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96265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注意是「整體」按比例縮小 —— 各參數之間的相對比例不變。這跟逐元素裁剪（clip by value）不同，後者會扭曲梯度的方向。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10528" y="1517904"/>
            <a:ext cx="512978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784848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　cosine_lr(step, total, lr, warmup=100)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84848" y="2103120"/>
            <a:ext cx="4572000" cy="786384"/>
          </a:xfrm>
          <a:prstGeom prst="roundRect">
            <a:avLst>
              <a:gd name="adj" fmla="val 697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 flipV="1">
            <a:off x="6894576" y="2377994"/>
            <a:ext cx="108814" cy="401782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 flipV="1">
            <a:off x="7003390" y="2249788"/>
            <a:ext cx="108814" cy="128206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7112203" y="2249788"/>
            <a:ext cx="108814" cy="1854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221017" y="2251642"/>
            <a:ext cx="108814" cy="341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329830" y="2255056"/>
            <a:ext cx="108814" cy="4950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7438644" y="2260005"/>
            <a:ext cx="108814" cy="645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7547458" y="2266459"/>
            <a:ext cx="108814" cy="7915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656271" y="2274373"/>
            <a:ext cx="108814" cy="9324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765085" y="2283697"/>
            <a:ext cx="108814" cy="10671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7873898" y="2294368"/>
            <a:ext cx="108814" cy="11948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982712" y="2306316"/>
            <a:ext cx="108814" cy="13147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8091526" y="2319463"/>
            <a:ext cx="108814" cy="14258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8200339" y="2333721"/>
            <a:ext cx="108814" cy="15276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8309153" y="2348997"/>
            <a:ext cx="108814" cy="1619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8417966" y="2365190"/>
            <a:ext cx="108814" cy="1700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8526780" y="2382193"/>
            <a:ext cx="108814" cy="17701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8635594" y="2399895"/>
            <a:ext cx="108814" cy="1828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8744407" y="2418178"/>
            <a:ext cx="108814" cy="18744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8853221" y="2436922"/>
            <a:ext cx="108814" cy="19081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8962034" y="2456003"/>
            <a:ext cx="108814" cy="1929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9070848" y="2475295"/>
            <a:ext cx="108814" cy="19377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9179662" y="2494672"/>
            <a:ext cx="108814" cy="1933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9288475" y="2514006"/>
            <a:ext cx="108814" cy="19163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9397289" y="2533168"/>
            <a:ext cx="108814" cy="18865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9506102" y="2552033"/>
            <a:ext cx="108814" cy="18444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9614916" y="2570477"/>
            <a:ext cx="108814" cy="17900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9723730" y="2588377"/>
            <a:ext cx="108814" cy="17239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9832543" y="2605617"/>
            <a:ext cx="108814" cy="16464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9941357" y="2622081"/>
            <a:ext cx="108814" cy="15581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10050170" y="2637662"/>
            <a:ext cx="108814" cy="14595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10158984" y="2652256"/>
            <a:ext cx="108814" cy="13512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10267798" y="2665768"/>
            <a:ext cx="108814" cy="12341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10376611" y="2678109"/>
            <a:ext cx="108814" cy="11088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10485425" y="2689197"/>
            <a:ext cx="108814" cy="9762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10594238" y="2698959"/>
            <a:ext cx="108814" cy="8372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10703052" y="2707330"/>
            <a:ext cx="108814" cy="6926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10811866" y="2714256"/>
            <a:ext cx="108814" cy="5435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10920679" y="2719691"/>
            <a:ext cx="108814" cy="3908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11029493" y="2723599"/>
            <a:ext cx="108814" cy="2355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11138306" y="2725954"/>
            <a:ext cx="108814" cy="787"/>
          </a:xfrm>
          <a:prstGeom prst="line">
            <a:avLst/>
          </a:prstGeom>
          <a:noFill/>
          <a:ln w="22860">
            <a:solidFill>
              <a:srgbClr val="A86F14"/>
            </a:solidFill>
            <a:prstDash val="solid"/>
            <a:tailEnd type="non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 txBox="1"/>
          <p:nvPr/>
        </p:nvSpPr>
        <p:spPr>
          <a:xfrm>
            <a:off x="6830568" y="2916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613648" y="2916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衰減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784848" y="31821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warmup：一開始權重是亂數，梯度方向不可靠，用大 η 容易走歪。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衰減：後期要小步微調，不然會在最低點附近震盪。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0599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兩者一起看：訓練前期與後期的 lr 差了十倍</a:t>
            </a:r>
            <a:endParaRPr lang="en-US" sz="15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25696"/>
          <a:ext cx="11057839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3.000e−05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A86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3.000e−03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2.408e−03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1.018e−03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3.000e−04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8.8149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6.3556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3.6166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3.0630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3F7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2.7806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Text 56"/>
          <p:cNvSpPr txBox="1"/>
          <p:nvPr/>
        </p:nvSpPr>
        <p:spPr>
          <a:xfrm>
            <a:off x="566928" y="57607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traces/train_log.txt 記了每一步的 η，可以直接畫成曲線。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怎麼確定沒推錯 · 跑一遍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autograd 對答案 —— 直接回到梯度的定義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有限差分驗證九層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從 8.81 掉到 2.78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生成出來的東西長什麼樣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每一個數字都可以自己驗算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PyTorch 對答案，直接量斜率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如果拿 autograd 當標準答案，你只是驗證「我抄對了」，不是「我推對了」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94944" y="1481328"/>
            <a:ext cx="108018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  ≈  [ L(w+ε) − L(w−ε) ] / 2ε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5669280" cy="1975104"/>
          </a:xfrm>
          <a:prstGeom prst="roundRect">
            <a:avLst>
              <a:gd name="adj" fmla="val 4630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841248" y="24871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6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scratch/gradcheck.py（節錄）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761488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y0 = layer.forward(x)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 = torch.randn(y0.shape)      # 隨機的上游梯度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 = layer.backward(dy)         # 手推公式算出來的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flat[i] = orig + eps;  lp = (layer.forward(x) * dy).sum()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flat[i] = orig − eps;  lm = (layer.forward(x) * dy).sum()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(lp − lm) / (2 * eps)     # 有限差分算出來的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10528" y="2377440"/>
            <a:ext cx="5129784" cy="1975104"/>
          </a:xfrm>
          <a:prstGeom prst="roundRect">
            <a:avLst>
              <a:gd name="adj" fmla="val 463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784848" y="2505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三個設計上的細節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281635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2816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隨機的 dy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816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的正確性要求它對任何 dy 都成立 —— 這正是各層能自由組合的前提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84848" y="332841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33284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中央差分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3328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兩邊各推一次，誤差是 O(ε²) 而不是 O(ε)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8404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86016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跑在 float64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只有約 7 位有效數字，兩個相近的數相減會被捨入誤差吃掉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6268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731520" y="4626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Linear（無 bias）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46268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2.29e−12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93008" y="4626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06824" y="46268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4471416" y="4626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Linear（有 bias）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18504" y="46268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2.03e−12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232904" y="4626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6720" y="46268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 txBox="1"/>
          <p:nvPr/>
        </p:nvSpPr>
        <p:spPr>
          <a:xfrm>
            <a:off x="8211312" y="4626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46268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2.13e−07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0" y="4626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0840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731520" y="5084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(scatter-add)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578608" y="50840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6.80e−14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493008" y="5084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06824" y="50840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 txBox="1"/>
          <p:nvPr/>
        </p:nvSpPr>
        <p:spPr>
          <a:xfrm>
            <a:off x="4471416" y="5084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TiedOutputHead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318504" y="50840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5.61e−12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5084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46720" y="50840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 txBox="1"/>
          <p:nvPr/>
        </p:nvSpPr>
        <p:spPr>
          <a:xfrm>
            <a:off x="8211312" y="5084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(FFN)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058400" y="50840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1.69e−06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0" y="5084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5412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 txBox="1"/>
          <p:nvPr/>
        </p:nvSpPr>
        <p:spPr>
          <a:xfrm>
            <a:off x="731520" y="55412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578608" y="5541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2.19e−12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3493008" y="5541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06824" y="55412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 txBox="1"/>
          <p:nvPr/>
        </p:nvSpPr>
        <p:spPr>
          <a:xfrm>
            <a:off x="4471416" y="55412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CausalSelfAttention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318504" y="5541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3.32e−07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7232904" y="5541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46720" y="5541264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 txBox="1"/>
          <p:nvPr/>
        </p:nvSpPr>
        <p:spPr>
          <a:xfrm>
            <a:off x="8211312" y="55412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Softmax+CrossEntropy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0058400" y="5541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7.50e−08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0972800" y="5541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60533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誤差大小的差異是有意義的：純矩陣運算的層在 10⁻¹² 等級；含開根號、除法、σ(1−σ) 的層在 10⁻⁶ ~ 10⁻⁷，因為浮點誤差會累積。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實際跑一遍：loss 從 8.81 掉到 2.78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 · 4 層 · 475 萬參數 · 3,000 步 · 79 秒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66928" y="1463040"/>
          <a:ext cx="7680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613648" y="1463040"/>
            <a:ext cx="3026664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8833104" y="14630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86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8.8149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515600" y="14630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13648" y="2286000"/>
            <a:ext cx="3026664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8833104" y="22860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86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3.6166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0" y="228600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13648" y="3108960"/>
            <a:ext cx="3026664" cy="713232"/>
          </a:xfrm>
          <a:prstGeom prst="roundRect">
            <a:avLst>
              <a:gd name="adj" fmla="val 1025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8833104" y="31089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86F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2.7806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0" y="310896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3000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13648" y="3931920"/>
            <a:ext cx="3026664" cy="713232"/>
          </a:xfrm>
          <a:prstGeom prst="roundRect">
            <a:avLst>
              <a:gd name="adj" fmla="val 10256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8833104" y="393192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79.4 秒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0515600" y="393192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總耗時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48463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 txBox="1"/>
          <p:nvPr/>
        </p:nvSpPr>
        <p:spPr>
          <a:xfrm>
            <a:off x="786384" y="4974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100 步是 warmup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" y="530352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從 3e−05 爬到 3e−03，所以一開始掉得慢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06824" y="48463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 txBox="1"/>
          <p:nvPr/>
        </p:nvSpPr>
        <p:spPr>
          <a:xfrm>
            <a:off x="4526280" y="4974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步之後開始震盪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530352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之間的差異開始蓋過進步幅度 —— 這是正常的，不是壞掉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046720" y="484632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66176" y="4974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最後仍在下降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66176" y="530352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代表還沒訓練飽和。這個規模繼續跑還有空間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它生出來的東西長什麼樣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generate.py --prompt "機器學習是"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84124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68096" y="1682496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768096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機器學習是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6459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一項重要的領域，即將資料能夠從大量資料中學習和推理。機器學習可以用於學習、自然語言處理和自然語言生成等各種任務。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0" y="1517904"/>
            <a:ext cx="2496312" cy="1078992"/>
          </a:xfrm>
          <a:prstGeom prst="roundRect">
            <a:avLst>
              <a:gd name="adj" fmla="val 7627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9326880" y="1517904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語意通順、術語正確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24912"/>
            <a:ext cx="84124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68096" y="2889504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768096" y="28895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台灣的天氣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85292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如今，在這裡有著令人無法抗衰老的環境和繁華性災難。這些災難事件可以用於對當地居民群落和探討。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0" y="2724912"/>
            <a:ext cx="2496312" cy="1078992"/>
          </a:xfrm>
          <a:prstGeom prst="roundRect">
            <a:avLst>
              <a:gd name="adj" fmla="val 7627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9326880" y="2724912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語法沒問題，但語意會飄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931920"/>
            <a:ext cx="84124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768096" y="409651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768096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貓是一種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4059936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常見的寵物，並且常常會受到許多人關注和感悟。狗通常很快地奔跑、游泳、跳傘</a:t>
            </a:r>
            <a:r>
              <a:rPr lang="en-US" sz="1250" dirty="0">
                <a:solidFill>
                  <a:srgbClr val="1B2430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⋯⋯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0" y="3931920"/>
            <a:ext cx="2496312" cy="1078992"/>
          </a:xfrm>
          <a:prstGeom prst="roundRect">
            <a:avLst>
              <a:gd name="adj" fmla="val 7627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9326880" y="3931920"/>
            <a:ext cx="2148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看得出在模仿句式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157216"/>
            <a:ext cx="11057839" cy="1005840"/>
          </a:xfrm>
          <a:prstGeom prst="roundRect">
            <a:avLst>
              <a:gd name="adj" fmla="val 9091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932688" y="5157216"/>
            <a:ext cx="103263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 475 萬參數、吃 424 萬 token 該有的水準。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重點不是它寫得好不好，而是「它確實學到了東西」—— 第 1 步時正解的機率是 0.00026（幾乎等於 1/6400 的隨機猜測），第 3000 步明顯高出來。順帶一提：「機器學習」被 BPE 合併成單一 token，所以模型對它的處理特別穩。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084832"/>
            <a:ext cx="1481328" cy="1481328"/>
          </a:xfrm>
          <a:prstGeom prst="roundRect">
            <a:avLst>
              <a:gd name="adj" fmla="val 987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2084832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139696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最後一個坑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962656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權重跟 tokenizer 是綁死的 —— 而且比多數人以為的更嚴格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2139696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不只詞表大小要一樣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token 對應到哪個 id 都要相同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用錯比沒訓練過還糟，而且不會報錯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可以擴充，不能重建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拿別人的權重，tokenizer 也要一樣嗎？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對，而且比多數人以為的更嚴格 —— 不只詞表大小，每個 token 對應到哪個 id 都必須相同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11057839" cy="1005840"/>
          </a:xfrm>
          <a:prstGeom prst="roundRect">
            <a:avLst>
              <a:gd name="adj" fmla="val 9091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1517904"/>
            <a:ext cx="103263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訓練時        id 4 = '的'   →  E[4] 學成了「的」的向量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換 tokenizer 後   id 4 = '，'   →  模型拿「的」的向量去理解「，」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517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而且因為 weight tying，E 同時是輸出層 —— 輸入查表跟輸出分類會一起錯亂。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實測：同一個模型、同一句話，只是把 id 對應打亂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93008"/>
            <a:ext cx="3520440" cy="1700784"/>
          </a:xfrm>
          <a:prstGeom prst="roundRect">
            <a:avLst>
              <a:gd name="adj" fmla="val 5376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04672" y="3621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正確的 tokenizer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3.61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22452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perplexity（等效於在幾個選項中亂猜）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06824" y="3493008"/>
            <a:ext cx="3520440" cy="1700784"/>
          </a:xfrm>
          <a:prstGeom prst="roundRect">
            <a:avLst>
              <a:gd name="adj" fmla="val 537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544568" y="3621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完全沒訓練過的模型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—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422452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2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6,400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perplexity（等效於在幾個選項中亂猜）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0" y="3493008"/>
            <a:ext cx="3520440" cy="1700784"/>
          </a:xfrm>
          <a:prstGeom prst="roundRect">
            <a:avLst>
              <a:gd name="adj" fmla="val 5376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84464" y="3621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對應被打亂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6D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12.87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422452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389,971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perplexity（等效於在幾個選項中亂猜）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5394960"/>
            <a:ext cx="11057839" cy="768096"/>
          </a:xfrm>
          <a:prstGeom prst="roundRect">
            <a:avLst>
              <a:gd name="adj" fmla="val 11905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896112" y="5394960"/>
            <a:ext cx="10399471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用錯 tokenizer 比完全沒訓練過的模型還糟 61 倍。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為什麼會比隨機還差？因為隨機模型是均勻分布，至少「不確定」；而載錯 tokenizer 的模型會很有自信地猜錯 —— 把高機率押在錯誤的 token 上。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三種情況，危險程度完全不同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真正的坑是第二種 —— 它不會報錯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603504" y="237744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拿到別人的權重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8608" y="2697480"/>
            <a:ext cx="45720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035808" y="2148840"/>
            <a:ext cx="1828800" cy="1097280"/>
          </a:xfrm>
          <a:prstGeom prst="diamond">
            <a:avLst/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3035808" y="2148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詞表大小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一樣嗎？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50208" y="3246120"/>
            <a:ext cx="0" cy="64008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00507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38862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AEFDA"/>
          </a:solidFill>
          <a:ln w="12700">
            <a:solidFill>
              <a:srgbClr val="A86F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2798064" y="388620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RuntimeError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mismatch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64608" y="2697480"/>
            <a:ext cx="457200" cy="0"/>
          </a:xfrm>
          <a:prstGeom prst="line">
            <a:avLst/>
          </a:prstGeom>
          <a:noFill/>
          <a:ln w="17780">
            <a:solidFill>
              <a:srgbClr val="626D7A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495604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21808" y="2148840"/>
            <a:ext cx="1828800" cy="1097280"/>
          </a:xfrm>
          <a:prstGeom prst="diamond">
            <a:avLst/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5321808" y="2148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對應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一樣嗎？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3246120"/>
            <a:ext cx="0" cy="640080"/>
          </a:xfrm>
          <a:prstGeom prst="line">
            <a:avLst/>
          </a:prstGeom>
          <a:noFill/>
          <a:ln w="20320">
            <a:solidFill>
              <a:srgbClr val="B23A3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6291072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56048" y="388620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4992624" y="388620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載得進去 · 跑得動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輸出是垃圾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沒有任何警告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50608" y="2697480"/>
            <a:ext cx="457200" cy="0"/>
          </a:xfrm>
          <a:prstGeom prst="line">
            <a:avLst/>
          </a:prstGeom>
          <a:noFill/>
          <a:ln w="17780">
            <a:solidFill>
              <a:srgbClr val="3F7A5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724204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07808" y="23774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E5F0E9"/>
          </a:solidFill>
          <a:ln w="12700">
            <a:solidFill>
              <a:srgbClr val="3F7A5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7644384" y="237744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09760" y="1517904"/>
            <a:ext cx="2130552" cy="3291840"/>
          </a:xfrm>
          <a:prstGeom prst="roundRect">
            <a:avLst>
              <a:gd name="adj" fmla="val 4292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 txBox="1"/>
          <p:nvPr/>
        </p:nvSpPr>
        <p:spPr>
          <a:xfrm>
            <a:off x="9692640" y="1682496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第二種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最危險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2688336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你會以為模型壞了、資料有問題、超參數不對，花好幾天調參 —— 實際上只是 tokenizer 拿錯了。</a:t>
            </a:r>
            <a:endParaRPr lang="en-US" sz="115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084064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5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會怎樣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危險嗎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詞表大小不同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RuntimeError: size mismatch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86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不危險 —— 馬上就知道出事了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大小相同、id 對應不同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安然載入、正常執行、輸出垃圾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非常危險 —— 沒有任何提示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防呆：指紋能「驗證」，但不能「尋找」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這個差別看起來很小，實際上這份專案自己就踩過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669280" cy="1975104"/>
          </a:xfrm>
          <a:prstGeom prst="roundRect">
            <a:avLst>
              <a:gd name="adj" fmla="val 4630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5910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tokenizer/bpe.py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84708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fingerprint(self):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'|'.join(self.itos) + \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'|'.join('%s&gt;%s' % m for m in self.merges)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hashlib.sha256(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s.encode('utf-8')).hexdigest()[:16]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17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指紋涵蓋 id 的順序（itos 是有序的），所以順序一變就會被抓到。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10528" y="1481328"/>
            <a:ext cx="5129784" cy="1975104"/>
          </a:xfrm>
          <a:prstGeom prst="roundRect">
            <a:avLst>
              <a:gd name="adj" fmla="val 4630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784848" y="16093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拿錯就直接擋下來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920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tokenizer 不符！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權重存檔時用的 : dcb6ef062b94a20e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現在載入的     : deadbeefdeadbeef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詞表大小可能一樣，但 id 對應不同——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模型會照跑，輸出卻是垃圾。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896112" y="3621024"/>
            <a:ext cx="103994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但這份專案自己踩過的坑：</a:t>
            </a: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generate.py 當初用「猜檔名」的方式找 tokenizer。平常沒事，因為 out/ 底下只有一份詞表 —— 但只要跑過一次 tests/test_bpe.py，就會多出一份 6,400 的 BPE 詞表，於是這行開始把 6,400 的詞表交給 3,195 的權重。指紋確實擋下來了，可是使用者收到的是「不符」，不是「對的那份在這裡」。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 checkpoint 要存的不只是指紋，還有 tokenizer 的「身分」</a:t>
            </a:r>
            <a:endParaRPr lang="en-US" sz="15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029200"/>
          <a:ext cx="11057839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5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順序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依據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用在什麼情況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checkpoint 記的 tokenizer_path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正常情況，直接讀，不用猜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指紋比對候選詞表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舊 checkpoint 沒存路徑，或詞表被搬走了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明確報錯，列出試過哪些、指紋各是多少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真的找不到 —— 講清楚，而不是丟 IndexError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66928" y="63093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教訓：「靠檔案系統的狀態去推斷模型的身分」是個很容易寫出來、又很難發現的錯 —— 它在乾淨環境下永遠正常，只在「跑過別的東西之後」才出錯。模型的身分應該由模型自己攜帶。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如果真的需要改 tokenizer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只能往後擴充，不能重建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340096" cy="3200400"/>
          </a:xfrm>
          <a:prstGeom prst="roundRect">
            <a:avLst>
              <a:gd name="adj" fmla="val 2857"/>
            </a:avLst>
          </a:prstGeom>
          <a:solidFill>
            <a:srgbClr val="E5F0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66420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可以：擴充（append）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1168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保留原有的 id 0…V−1 完全不動，只在後面接新的列。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23744"/>
            <a:ext cx="48280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969264" y="2523744"/>
            <a:ext cx="4535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p[:old_vocab].copy_(old_E)      # 原有 id 原封不動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p[old_vocab:] = old_E.mean(0)   # 新列用平均值起步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19856"/>
            <a:ext cx="4828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 6,400 → 6,450：同一句話 loss = 3.6130（原本 3.6129）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幾乎沒有影響，因為原有的 id 對應沒被動到。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81928" y="1517904"/>
            <a:ext cx="5340096" cy="3200400"/>
          </a:xfrm>
          <a:prstGeom prst="roundRect">
            <a:avLst>
              <a:gd name="adj" fmla="val 2857"/>
            </a:avLst>
          </a:prstGeom>
          <a:solidFill>
            <a:srgbClr val="F9E7E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537960" y="1664208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不行：重建（rebuild）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01168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用新語料重訓一個 tokenizer，即使詞表大小相同、甚至詞彙集合相同。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523744"/>
            <a:ext cx="482803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684264" y="2523744"/>
            <a:ext cx="45354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BPE 的 id 順序取決於合併的順序，</a:t>
            </a:r>
            <a:endParaRPr lang="en-US" sz="9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而合併順序取決於語料的統計。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419856"/>
            <a:ext cx="4828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換語料、換種子、甚至換一個實作的 tie-breaking 規則，順序就會不一樣 —— 只要 id 分配順序不同，權重就報廢了。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864608"/>
            <a:ext cx="5669280" cy="1298448"/>
          </a:xfrm>
          <a:prstGeom prst="roundRect">
            <a:avLst>
              <a:gd name="adj" fmla="val 704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841248" y="4974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折衷：詞表移植（tokenizer transplant）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266944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對新詞表的每個 token：舊詞表裡有同樣字串就把舊向量搬過來，否則用子詞平均初始化。能救回一部分，但一定會掉品質。業界做跨語言適配時常用這招，但那是不得已，不是首選。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10528" y="4864608"/>
            <a:ext cx="5129784" cy="1298448"/>
          </a:xfrm>
          <a:prstGeom prst="roundRect">
            <a:avLst>
              <a:gd name="adj" fmla="val 7042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6803136" y="4864608"/>
            <a:ext cx="45445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權重跟 tokenizer 是一組的。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發布時要一起發布，換模型時要一起換。這也是為什麼 HuggingFace 上的模型 repo 一定會把 tokenizer.json 跟 model.safetensors 放在同一個目錄。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84048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回到開場的四個問題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16736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04672" y="159105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1316736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詞表 6,400 是誰決定的？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316736"/>
            <a:ext cx="667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你自己。|V| = |V₀| + M，它就是個 while 迴圈的停止條件。5,227 + 1,173 = 6,400。而且它同時是模型的架構參數。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523744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04672" y="2798064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2798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2523744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是資料還是模型？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2523744"/>
            <a:ext cx="667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是權重。它在 optimizer 的 38 個張量裡，跟 q_proj 用同一套規則、同樣的 ±lr。把它想成「第 0 層」就通了。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730752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04672" y="400507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 txBox="1"/>
          <p:nvPr/>
        </p:nvSpPr>
        <p:spPr>
          <a:xfrm>
            <a:off x="804672" y="4005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3730752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反向傳播會改權重嗎？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3730752"/>
            <a:ext cx="667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不會。backward() 只算出「該往哪修」存進梯度表，opt.step() 才動手 —— 而且方向相反、步伐只有 lr 那麼小。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937760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04672" y="521208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3F7A5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804672" y="5212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493776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 是整數，怎麼微分？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4937760"/>
            <a:ext cx="6675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不對 id 微分。id 是資料（常數），E[4][0] 才是參數。「狗」那列的有限差分算出來就是 0，不是「不能算」。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29184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自己跑一遍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859536"/>
            <a:ext cx="10454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 seed（預設 42），所以數字可以完全重現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858000" cy="3200400"/>
          </a:xfrm>
          <a:prstGeom prst="roundRect">
            <a:avLst>
              <a:gd name="adj" fmla="val 2857"/>
            </a:avLst>
          </a:prstGeom>
          <a:solidFill>
            <a:srgbClr val="141A2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77824" y="1481328"/>
            <a:ext cx="6309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out traces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tests/test_layers.py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train.py --tokenizer bpe --vocab 6400 --steps 3000 \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--dim 256 --layers 4 --heads 4 --seq 128 \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--batch 64 --trace-steps 1,3000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generate.py --prompt "機器學習是"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C3CC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tests/test_tokenizer_binding.py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99248" y="1481328"/>
            <a:ext cx="3941064" cy="713232"/>
          </a:xfrm>
          <a:prstGeom prst="roundRect">
            <a:avLst>
              <a:gd name="adj" fmla="val 89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7918704" y="1554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tools/demo_operators.py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918704" y="18105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6D7A"/>
                </a:solidFill>
                <a:latin typeface="Cambria Math" pitchFamily="34" charset="0"/>
                <a:ea typeface="Calibri" pitchFamily="34" charset="-122"/>
                <a:cs typeface="Cambria Math" pitchFamily="34" charset="-120"/>
              </a:rPr>
              <a:t>⊙</a:t>
            </a: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與 @ 的差別，用最小的矩陣算給你看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99248" y="2304288"/>
            <a:ext cx="3941064" cy="713232"/>
          </a:xfrm>
          <a:prstGeom prst="roundRect">
            <a:avLst>
              <a:gd name="adj" fmla="val 89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7918704" y="2377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tools/demo_backward.py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918704" y="26334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兩條反向規則的逐元素推導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99248" y="3127248"/>
            <a:ext cx="3941064" cy="713232"/>
          </a:xfrm>
          <a:prstGeom prst="roundRect">
            <a:avLst>
              <a:gd name="adj" fmla="val 89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918704" y="32004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tests/test_layers.py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918704" y="3456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逐層梯度驗證表 → traces/gradcheck.txt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99248" y="3950208"/>
            <a:ext cx="3941064" cy="713232"/>
          </a:xfrm>
          <a:prstGeom prst="roundRect">
            <a:avLst>
              <a:gd name="adj" fmla="val 89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7918704" y="4023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tests/test_bpe.py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18704" y="42793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合併過程 → traces/bpe_training.txt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882896"/>
            <a:ext cx="11057839" cy="1280160"/>
          </a:xfrm>
          <a:prstGeom prst="roundRect">
            <a:avLst>
              <a:gd name="adj" fmla="val 7143"/>
            </a:avLst>
          </a:prstGeom>
          <a:solidFill>
            <a:srgbClr val="FAEFD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96112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6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如果只做一件事：打開 traces/train_step_0001.txt，只看這四行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303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 25 行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618488" y="5303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查表就是索引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559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這一批用到 2,036 個 token，詞表 6,400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447288" y="5303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 493 行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07408" y="5303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 = (p − y)/N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5559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整條鏈唯一知道答案的地方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5303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 851 行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196328" y="5303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scatter-add 兩條路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5559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輸入側稀疏 ＋ 輸出側稠密，符號還相反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025128" y="5303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6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第 889 行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985248" y="5303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位移恰好等於 lr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5559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2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梯度差 67 倍，位移全是 ±3e−05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73736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整場只有一句話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沒有魔法，只有</a:t>
            </a:r>
            <a:endParaRPr lang="en-US" sz="46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一個迴圈跑幾千次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4261104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前向算出分數 → cross-entropy 說錯了多少 → 每一層機械式地把它翻譯成自己的修正單 → optimizer 往反方向走一小步。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這條鏈上沒有任何一個地方「理解」語言。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541324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B23A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− 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23744" y="5641848"/>
            <a:ext cx="274320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798064" y="541324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2834640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逐層翻譯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5641848"/>
            <a:ext cx="274320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901184" y="541324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937760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scatter-add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9984" y="5641848"/>
            <a:ext cx="274320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004304" y="541324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040880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33104" y="5641848"/>
            <a:ext cx="274320" cy="0"/>
          </a:xfrm>
          <a:prstGeom prst="line">
            <a:avLst/>
          </a:prstGeom>
          <a:noFill/>
          <a:ln w="12700">
            <a:solidFill>
              <a:srgbClr val="4A5764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107424" y="5413248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2431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9144000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D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 3,000 次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6035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6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llm-from-scratch　·　docs/ 00–11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8470</Words>
  <Application>Microsoft Macintosh PowerPoint</Application>
  <PresentationFormat>寬螢幕</PresentationFormat>
  <Paragraphs>1594</Paragraphs>
  <Slides>60</Slides>
  <Notes>60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66" baseType="lpstr">
      <vt:lpstr>Arial</vt:lpstr>
      <vt:lpstr>Calibri</vt:lpstr>
      <vt:lpstr>Cambria</vt:lpstr>
      <vt:lpstr>Cambria Math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從零手刻一個 LLM</dc:title>
  <dc:subject>給有程式經驗、但不熟機器學習的開發者</dc:subject>
  <dc:creator>llm-from-scratch</dc:creator>
  <cp:lastModifiedBy>Garfield H</cp:lastModifiedBy>
  <cp:revision>30</cp:revision>
  <dcterms:created xsi:type="dcterms:W3CDTF">2026-09-07T08:49:16Z</dcterms:created>
  <dcterms:modified xsi:type="dcterms:W3CDTF">2026-09-07T09:33:46Z</dcterms:modified>
</cp:coreProperties>
</file>